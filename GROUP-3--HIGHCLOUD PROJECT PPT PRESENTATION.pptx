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0.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1.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4.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68" r:id="rId3"/>
    <p:sldId id="258" r:id="rId4"/>
    <p:sldId id="259" r:id="rId5"/>
    <p:sldId id="260" r:id="rId6"/>
    <p:sldId id="262" r:id="rId7"/>
    <p:sldId id="263" r:id="rId8"/>
    <p:sldId id="265" r:id="rId9"/>
    <p:sldId id="285" r:id="rId10"/>
    <p:sldId id="283" r:id="rId11"/>
    <p:sldId id="284" r:id="rId12"/>
    <p:sldId id="286" r:id="rId13"/>
    <p:sldId id="287" r:id="rId14"/>
    <p:sldId id="288" r:id="rId15"/>
    <p:sldId id="289" r:id="rId16"/>
    <p:sldId id="290" r:id="rId17"/>
    <p:sldId id="274" r:id="rId18"/>
    <p:sldId id="272" r:id="rId19"/>
    <p:sldId id="269" r:id="rId20"/>
    <p:sldId id="270" r:id="rId21"/>
    <p:sldId id="271" r:id="rId22"/>
    <p:sldId id="277" r:id="rId23"/>
    <p:sldId id="278" r:id="rId24"/>
    <p:sldId id="279" r:id="rId25"/>
    <p:sldId id="275" r:id="rId26"/>
    <p:sldId id="281"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3" d="100"/>
          <a:sy n="103" d="100"/>
        </p:scale>
        <p:origin x="90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41595c69904ee1c7/Documents/cache/High%20Cloud%20%20Airlines%20Project%20(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41595c69904ee1c7/Documents/cache/High%20Cloud%20%20Airlines%20Project%20(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41595c69904ee1c7/Documents/cache/High%20Cloud%20%20Airlines%20Project%20(1).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41595c69904ee1c7/Documents/cache/High%20Cloud%20%20Airlines%20Project%20(1).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41595c69904ee1c7/Documents/cache/High%20Cloud%20%20Airlines%20Project%20(1).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41595c69904ee1c7/Documents/cache/High%20Cloud%20%20Airlines%20Project%20(1).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[High Cloud  Airlines Project (1).xlsx]KPI 2!PivotTable1</c:name>
    <c:fmtId val="-1"/>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dirty="0"/>
              <a:t>Year wise Load factor</a:t>
            </a:r>
          </a:p>
        </c:rich>
      </c:tx>
      <c:layout>
        <c:manualLayout>
          <c:xMode val="edge"/>
          <c:yMode val="edge"/>
          <c:x val="0.22458556370410546"/>
          <c:y val="3.8602073737446264E-2"/>
        </c:manualLayout>
      </c:layout>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'KPI 2'!$B$3</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'KPI 2'!$A$4:$A$10</c:f>
              <c:strCache>
                <c:ptCount val="6"/>
                <c:pt idx="0">
                  <c:v>2009</c:v>
                </c:pt>
                <c:pt idx="1">
                  <c:v>2008</c:v>
                </c:pt>
                <c:pt idx="2">
                  <c:v>2010</c:v>
                </c:pt>
                <c:pt idx="3">
                  <c:v>2012</c:v>
                </c:pt>
                <c:pt idx="4">
                  <c:v>2013</c:v>
                </c:pt>
                <c:pt idx="5">
                  <c:v>2011</c:v>
                </c:pt>
              </c:strCache>
            </c:strRef>
          </c:cat>
          <c:val>
            <c:numRef>
              <c:f>'KPI 2'!$B$4:$B$10</c:f>
              <c:numCache>
                <c:formatCode>0.00%</c:formatCode>
                <c:ptCount val="6"/>
                <c:pt idx="0">
                  <c:v>0.15659387471388841</c:v>
                </c:pt>
                <c:pt idx="1">
                  <c:v>0.15826311347947949</c:v>
                </c:pt>
                <c:pt idx="2">
                  <c:v>0.16818878815898106</c:v>
                </c:pt>
                <c:pt idx="3">
                  <c:v>0.16873342920856593</c:v>
                </c:pt>
                <c:pt idx="4">
                  <c:v>0.17400196290719036</c:v>
                </c:pt>
                <c:pt idx="5">
                  <c:v>0.17421883153189482</c:v>
                </c:pt>
              </c:numCache>
            </c:numRef>
          </c:val>
          <c:extLst>
            <c:ext xmlns:c16="http://schemas.microsoft.com/office/drawing/2014/chart" uri="{C3380CC4-5D6E-409C-BE32-E72D297353CC}">
              <c16:uniqueId val="{00000000-DB63-42D3-9E57-D6A4C40DEAD7}"/>
            </c:ext>
          </c:extLst>
        </c:ser>
        <c:dLbls>
          <c:dLblPos val="outEnd"/>
          <c:showLegendKey val="0"/>
          <c:showVal val="1"/>
          <c:showCatName val="0"/>
          <c:showSerName val="0"/>
          <c:showPercent val="0"/>
          <c:showBubbleSize val="0"/>
        </c:dLbls>
        <c:gapWidth val="100"/>
        <c:overlap val="-24"/>
        <c:axId val="127999263"/>
        <c:axId val="127999743"/>
      </c:barChart>
      <c:catAx>
        <c:axId val="127999263"/>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27999743"/>
        <c:crosses val="autoZero"/>
        <c:auto val="1"/>
        <c:lblAlgn val="ctr"/>
        <c:lblOffset val="100"/>
        <c:noMultiLvlLbl val="0"/>
      </c:catAx>
      <c:valAx>
        <c:axId val="127999743"/>
        <c:scaling>
          <c:orientation val="minMax"/>
        </c:scaling>
        <c:delete val="1"/>
        <c:axPos val="l"/>
        <c:numFmt formatCode="0.00%" sourceLinked="1"/>
        <c:majorTickMark val="none"/>
        <c:minorTickMark val="none"/>
        <c:tickLblPos val="nextTo"/>
        <c:crossAx val="12799926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[High Cloud  Airlines Project (1).xlsx]KPI 2!PivotTable5</c:name>
    <c:fmtId val="-1"/>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Quarter wise Load Factor</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'KPI 2'!$B$20</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'KPI 2'!$A$21:$A$25</c:f>
              <c:strCache>
                <c:ptCount val="4"/>
                <c:pt idx="0">
                  <c:v>Qtr1</c:v>
                </c:pt>
                <c:pt idx="1">
                  <c:v>Qtr2</c:v>
                </c:pt>
                <c:pt idx="2">
                  <c:v>Qtr3</c:v>
                </c:pt>
                <c:pt idx="3">
                  <c:v>Qtr4</c:v>
                </c:pt>
              </c:strCache>
            </c:strRef>
          </c:cat>
          <c:val>
            <c:numRef>
              <c:f>'KPI 2'!$B$21:$B$25</c:f>
              <c:numCache>
                <c:formatCode>0.00%</c:formatCode>
                <c:ptCount val="4"/>
                <c:pt idx="0">
                  <c:v>0.23409413728146747</c:v>
                </c:pt>
                <c:pt idx="1">
                  <c:v>0.25680623511826017</c:v>
                </c:pt>
                <c:pt idx="2">
                  <c:v>0.26314450326099958</c:v>
                </c:pt>
                <c:pt idx="3">
                  <c:v>0.24595512433927275</c:v>
                </c:pt>
              </c:numCache>
            </c:numRef>
          </c:val>
          <c:extLst>
            <c:ext xmlns:c16="http://schemas.microsoft.com/office/drawing/2014/chart" uri="{C3380CC4-5D6E-409C-BE32-E72D297353CC}">
              <c16:uniqueId val="{00000000-C88E-4C03-B3F7-652CFDEB2AB3}"/>
            </c:ext>
          </c:extLst>
        </c:ser>
        <c:dLbls>
          <c:dLblPos val="outEnd"/>
          <c:showLegendKey val="0"/>
          <c:showVal val="1"/>
          <c:showCatName val="0"/>
          <c:showSerName val="0"/>
          <c:showPercent val="0"/>
          <c:showBubbleSize val="0"/>
        </c:dLbls>
        <c:gapWidth val="100"/>
        <c:overlap val="-24"/>
        <c:axId val="1687177584"/>
        <c:axId val="1687177104"/>
      </c:barChart>
      <c:catAx>
        <c:axId val="1687177584"/>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687177104"/>
        <c:crosses val="autoZero"/>
        <c:auto val="1"/>
        <c:lblAlgn val="ctr"/>
        <c:lblOffset val="100"/>
        <c:noMultiLvlLbl val="0"/>
      </c:catAx>
      <c:valAx>
        <c:axId val="1687177104"/>
        <c:scaling>
          <c:orientation val="minMax"/>
        </c:scaling>
        <c:delete val="1"/>
        <c:axPos val="l"/>
        <c:numFmt formatCode="0.00%" sourceLinked="1"/>
        <c:majorTickMark val="none"/>
        <c:minorTickMark val="none"/>
        <c:tickLblPos val="nextTo"/>
        <c:crossAx val="16871775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[High Cloud  Airlines Project (1).xlsx]KPI 2!PivotTable6</c:name>
    <c:fmtId val="-1"/>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dirty="0"/>
              <a:t>Month wise Load Factor</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'KPI 2'!$B$35</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'KPI 2'!$A$36:$A$48</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'KPI 2'!$B$36:$B$48</c:f>
              <c:numCache>
                <c:formatCode>0.00%</c:formatCode>
                <c:ptCount val="12"/>
                <c:pt idx="0">
                  <c:v>7.6104214660375785E-2</c:v>
                </c:pt>
                <c:pt idx="1">
                  <c:v>7.5693084605150465E-2</c:v>
                </c:pt>
                <c:pt idx="2">
                  <c:v>8.2296838015940996E-2</c:v>
                </c:pt>
                <c:pt idx="3">
                  <c:v>8.2854198289725262E-2</c:v>
                </c:pt>
                <c:pt idx="4">
                  <c:v>8.3436256106823925E-2</c:v>
                </c:pt>
                <c:pt idx="5">
                  <c:v>9.0515780721710293E-2</c:v>
                </c:pt>
                <c:pt idx="6">
                  <c:v>9.0627560616127451E-2</c:v>
                </c:pt>
                <c:pt idx="7">
                  <c:v>9.0089079501727051E-2</c:v>
                </c:pt>
                <c:pt idx="8">
                  <c:v>8.2427863143145708E-2</c:v>
                </c:pt>
                <c:pt idx="9">
                  <c:v>8.1804363872474375E-2</c:v>
                </c:pt>
                <c:pt idx="10">
                  <c:v>8.2149161926993425E-2</c:v>
                </c:pt>
                <c:pt idx="11">
                  <c:v>8.2001598539805487E-2</c:v>
                </c:pt>
              </c:numCache>
            </c:numRef>
          </c:val>
          <c:extLst>
            <c:ext xmlns:c16="http://schemas.microsoft.com/office/drawing/2014/chart" uri="{C3380CC4-5D6E-409C-BE32-E72D297353CC}">
              <c16:uniqueId val="{00000000-A9AF-4CEC-A782-0FE5096848B4}"/>
            </c:ext>
          </c:extLst>
        </c:ser>
        <c:dLbls>
          <c:dLblPos val="outEnd"/>
          <c:showLegendKey val="0"/>
          <c:showVal val="1"/>
          <c:showCatName val="0"/>
          <c:showSerName val="0"/>
          <c:showPercent val="0"/>
          <c:showBubbleSize val="0"/>
        </c:dLbls>
        <c:gapWidth val="100"/>
        <c:overlap val="-24"/>
        <c:axId val="1687178064"/>
        <c:axId val="1687179024"/>
      </c:barChart>
      <c:catAx>
        <c:axId val="1687178064"/>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687179024"/>
        <c:crosses val="autoZero"/>
        <c:auto val="1"/>
        <c:lblAlgn val="ctr"/>
        <c:lblOffset val="100"/>
        <c:noMultiLvlLbl val="0"/>
      </c:catAx>
      <c:valAx>
        <c:axId val="1687179024"/>
        <c:scaling>
          <c:orientation val="minMax"/>
        </c:scaling>
        <c:delete val="1"/>
        <c:axPos val="l"/>
        <c:numFmt formatCode="0.00%" sourceLinked="1"/>
        <c:majorTickMark val="none"/>
        <c:minorTickMark val="none"/>
        <c:tickLblPos val="nextTo"/>
        <c:crossAx val="16871780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[High Cloud  Airlines Project (1).xlsx]KPI 4!PivotTable2</c:name>
    <c:fmtId val="-1"/>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sz="1400" dirty="0"/>
              <a:t>TOP</a:t>
            </a:r>
            <a:r>
              <a:rPr lang="en-US" sz="1400" baseline="0" dirty="0"/>
              <a:t> 10 CARRIERS BY PASSENGERS PREFERENCE</a:t>
            </a:r>
            <a:endParaRPr lang="en-US" sz="1400" dirty="0"/>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'KPI 4'!$B$3</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'KPI 4'!$A$4:$A$14</c:f>
              <c:strCache>
                <c:ptCount val="10"/>
                <c:pt idx="0">
                  <c:v>United Parcel Service</c:v>
                </c:pt>
                <c:pt idx="1">
                  <c:v>ExpressJet Airlines Inc.</c:v>
                </c:pt>
                <c:pt idx="2">
                  <c:v>American Eagle Airlines Inc.</c:v>
                </c:pt>
                <c:pt idx="3">
                  <c:v>SkyWest Airlines Inc.</c:v>
                </c:pt>
                <c:pt idx="4">
                  <c:v>US Airways Inc.</c:v>
                </c:pt>
                <c:pt idx="5">
                  <c:v>Continental Air Lines Inc.</c:v>
                </c:pt>
                <c:pt idx="6">
                  <c:v>Hageland Aviation Service</c:v>
                </c:pt>
                <c:pt idx="7">
                  <c:v>Federal Express Corporation</c:v>
                </c:pt>
                <c:pt idx="8">
                  <c:v>Southwest Airlines Co.</c:v>
                </c:pt>
                <c:pt idx="9">
                  <c:v>Delta Air Lines Inc.</c:v>
                </c:pt>
              </c:strCache>
            </c:strRef>
          </c:cat>
          <c:val>
            <c:numRef>
              <c:f>'KPI 4'!$B$4:$B$14</c:f>
              <c:numCache>
                <c:formatCode>General</c:formatCode>
                <c:ptCount val="10"/>
                <c:pt idx="0">
                  <c:v>2753</c:v>
                </c:pt>
                <c:pt idx="1">
                  <c:v>2884</c:v>
                </c:pt>
                <c:pt idx="2">
                  <c:v>3312</c:v>
                </c:pt>
                <c:pt idx="3">
                  <c:v>4201</c:v>
                </c:pt>
                <c:pt idx="4">
                  <c:v>4288</c:v>
                </c:pt>
                <c:pt idx="5">
                  <c:v>4613</c:v>
                </c:pt>
                <c:pt idx="6">
                  <c:v>4646</c:v>
                </c:pt>
                <c:pt idx="7">
                  <c:v>5628</c:v>
                </c:pt>
                <c:pt idx="8">
                  <c:v>8019</c:v>
                </c:pt>
                <c:pt idx="9">
                  <c:v>8271</c:v>
                </c:pt>
              </c:numCache>
            </c:numRef>
          </c:val>
          <c:extLst>
            <c:ext xmlns:c16="http://schemas.microsoft.com/office/drawing/2014/chart" uri="{C3380CC4-5D6E-409C-BE32-E72D297353CC}">
              <c16:uniqueId val="{00000000-A278-449E-BCE8-7831B5E64E9B}"/>
            </c:ext>
          </c:extLst>
        </c:ser>
        <c:dLbls>
          <c:showLegendKey val="0"/>
          <c:showVal val="1"/>
          <c:showCatName val="0"/>
          <c:showSerName val="0"/>
          <c:showPercent val="0"/>
          <c:showBubbleSize val="0"/>
        </c:dLbls>
        <c:gapWidth val="150"/>
        <c:shape val="box"/>
        <c:axId val="1664911488"/>
        <c:axId val="1664910528"/>
        <c:axId val="0"/>
      </c:bar3DChart>
      <c:catAx>
        <c:axId val="166491148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664910528"/>
        <c:crosses val="autoZero"/>
        <c:auto val="1"/>
        <c:lblAlgn val="ctr"/>
        <c:lblOffset val="100"/>
        <c:noMultiLvlLbl val="0"/>
      </c:catAx>
      <c:valAx>
        <c:axId val="1664910528"/>
        <c:scaling>
          <c:orientation val="minMax"/>
        </c:scaling>
        <c:delete val="0"/>
        <c:axPos val="l"/>
        <c:majorGridlines>
          <c:spPr>
            <a:ln w="9525" cap="flat" cmpd="sng" algn="ctr">
              <a:solidFill>
                <a:schemeClr val="dk1">
                  <a:lumMod val="50000"/>
                  <a:lumOff val="5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66491148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[High Cloud  Airlines Project (1).xlsx]KPI 5!PivotTable1</c:name>
    <c:fmtId val="-1"/>
  </c:pivotSource>
  <c:chart>
    <c:title>
      <c:tx>
        <c:rich>
          <a:bodyPr rot="0" spcFirstLastPara="1" vertOverflow="ellipsis" vert="horz" wrap="square" anchor="ctr" anchorCtr="1"/>
          <a:lstStyle/>
          <a:p>
            <a:pPr>
              <a:defRPr sz="2200" b="0" i="0" u="none" strike="noStrike" kern="1200" cap="all" baseline="0">
                <a:solidFill>
                  <a:schemeClr val="lt1"/>
                </a:solidFill>
                <a:latin typeface="+mn-lt"/>
                <a:ea typeface="+mn-ea"/>
                <a:cs typeface="+mn-cs"/>
              </a:defRPr>
            </a:pPr>
            <a:r>
              <a:rPr lang="en-US" sz="1600" b="1" dirty="0">
                <a:solidFill>
                  <a:schemeClr val="bg1"/>
                </a:solidFill>
              </a:rPr>
              <a:t>Top 5 Routes by Number of Flights</a:t>
            </a:r>
          </a:p>
        </c:rich>
      </c:tx>
      <c:overlay val="0"/>
      <c:spPr>
        <a:noFill/>
        <a:ln>
          <a:noFill/>
        </a:ln>
        <a:effectLst/>
      </c:spPr>
      <c:txPr>
        <a:bodyPr rot="0" spcFirstLastPara="1" vertOverflow="ellipsis" vert="horz" wrap="square" anchor="ctr" anchorCtr="1"/>
        <a:lstStyle/>
        <a:p>
          <a:pPr>
            <a:defRPr sz="2200" b="0" i="0" u="none" strike="noStrike" kern="1200" cap="all" baseline="0">
              <a:solidFill>
                <a:schemeClr val="lt1"/>
              </a:solidFill>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marker>
          <c:symbol val="none"/>
        </c:marker>
        <c:dLbl>
          <c:idx val="0"/>
          <c:spPr>
            <a:noFill/>
            <a:ln>
              <a:noFill/>
              <a:round/>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95000"/>
                      <a:lumOff val="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marker>
          <c:symbol val="none"/>
        </c:marker>
        <c:dLbl>
          <c:idx val="0"/>
          <c:spPr>
            <a:noFill/>
            <a:ln>
              <a:noFill/>
              <a:round/>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95000"/>
                      <a:lumOff val="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marker>
          <c:symbol val="none"/>
        </c:marker>
        <c:dLbl>
          <c:idx val="0"/>
          <c:spPr>
            <a:noFill/>
            <a:ln>
              <a:noFill/>
              <a:round/>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95000"/>
                      <a:lumOff val="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solidFill>
          <a:schemeClr val="bg2">
            <a:lumMod val="75000"/>
            <a:alpha val="27000"/>
          </a:schemeClr>
        </a:solid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'KPI 5'!$B$3</c:f>
              <c:strCache>
                <c:ptCount val="1"/>
                <c:pt idx="0">
                  <c:v>Total</c:v>
                </c:pt>
              </c:strCache>
            </c:strRef>
          </c:tx>
          <c:spPr>
            <a:solidFill>
              <a:schemeClr val="accent1">
                <a:alpha val="88000"/>
              </a:schemeClr>
            </a:solidFill>
            <a:ln>
              <a:solidFill>
                <a:schemeClr val="accent1">
                  <a:lumMod val="50000"/>
                </a:schemeClr>
              </a:solidFill>
            </a:ln>
            <a:effectLst/>
            <a:scene3d>
              <a:camera prst="orthographicFront"/>
              <a:lightRig rig="threePt" dir="t"/>
            </a:scene3d>
            <a:sp3d prstMaterial="flat">
              <a:contourClr>
                <a:schemeClr val="accent1">
                  <a:lumMod val="50000"/>
                </a:schemeClr>
              </a:contourClr>
            </a:sp3d>
          </c:spPr>
          <c:invertIfNegative val="0"/>
          <c:dLbls>
            <c:spPr>
              <a:solidFill>
                <a:schemeClr val="accent1">
                  <a:alpha val="30000"/>
                </a:schemeClr>
              </a:solidFill>
              <a:ln>
                <a:solidFill>
                  <a:schemeClr val="lt1">
                    <a:alpha val="50000"/>
                  </a:schemeClr>
                </a:solidFill>
                <a:round/>
              </a:ln>
              <a:effectLst>
                <a:outerShdw blurRad="63500" dist="889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cat>
            <c:strRef>
              <c:f>'KPI 5'!$A$4:$A$8</c:f>
              <c:strCache>
                <c:ptCount val="5"/>
                <c:pt idx="0">
                  <c:v>Atlanta, GA - New York, NY</c:v>
                </c:pt>
                <c:pt idx="1">
                  <c:v>Boston, MA - New York, NY</c:v>
                </c:pt>
                <c:pt idx="2">
                  <c:v>Washington, DC - New York, NY</c:v>
                </c:pt>
                <c:pt idx="3">
                  <c:v>New York, NY - Boston, MA</c:v>
                </c:pt>
                <c:pt idx="4">
                  <c:v>New York, NY - Washington, DC</c:v>
                </c:pt>
              </c:strCache>
            </c:strRef>
          </c:cat>
          <c:val>
            <c:numRef>
              <c:f>'KPI 5'!$B$4:$B$8</c:f>
              <c:numCache>
                <c:formatCode>General</c:formatCode>
                <c:ptCount val="5"/>
                <c:pt idx="0">
                  <c:v>5456</c:v>
                </c:pt>
                <c:pt idx="1">
                  <c:v>5372</c:v>
                </c:pt>
                <c:pt idx="2">
                  <c:v>5302</c:v>
                </c:pt>
                <c:pt idx="3">
                  <c:v>4893</c:v>
                </c:pt>
                <c:pt idx="4">
                  <c:v>4888</c:v>
                </c:pt>
              </c:numCache>
            </c:numRef>
          </c:val>
          <c:extLst>
            <c:ext xmlns:c16="http://schemas.microsoft.com/office/drawing/2014/chart" uri="{C3380CC4-5D6E-409C-BE32-E72D297353CC}">
              <c16:uniqueId val="{00000000-37ED-4169-899C-995F0FA2589B}"/>
            </c:ext>
          </c:extLst>
        </c:ser>
        <c:dLbls>
          <c:showLegendKey val="0"/>
          <c:showVal val="1"/>
          <c:showCatName val="0"/>
          <c:showSerName val="0"/>
          <c:showPercent val="0"/>
          <c:showBubbleSize val="0"/>
        </c:dLbls>
        <c:gapWidth val="84"/>
        <c:gapDepth val="53"/>
        <c:shape val="box"/>
        <c:axId val="318284847"/>
        <c:axId val="318268527"/>
        <c:axId val="0"/>
      </c:bar3DChart>
      <c:catAx>
        <c:axId val="318284847"/>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318268527"/>
        <c:crosses val="autoZero"/>
        <c:auto val="1"/>
        <c:lblAlgn val="ctr"/>
        <c:lblOffset val="100"/>
        <c:noMultiLvlLbl val="0"/>
      </c:catAx>
      <c:valAx>
        <c:axId val="318268527"/>
        <c:scaling>
          <c:orientation val="minMax"/>
        </c:scaling>
        <c:delete val="1"/>
        <c:axPos val="l"/>
        <c:numFmt formatCode="General" sourceLinked="1"/>
        <c:majorTickMark val="out"/>
        <c:minorTickMark val="none"/>
        <c:tickLblPos val="nextTo"/>
        <c:crossAx val="3182848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dk1">
        <a:lumMod val="75000"/>
        <a:lumOff val="25000"/>
      </a:schemeClr>
    </a:solidFill>
    <a:ln w="6350" cap="flat" cmpd="sng" algn="ctr">
      <a:solidFill>
        <a:schemeClr val="dk1">
          <a:tint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[High Cloud  Airlines Project (1).xlsx]KPI 7!PivotTable10</c:name>
    <c:fmtId val="-1"/>
  </c:pivotSource>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sz="1400" b="1" dirty="0">
                <a:latin typeface="Arial" panose="020B0604020202020204" pitchFamily="34" charset="0"/>
                <a:cs typeface="Arial" panose="020B0604020202020204" pitchFamily="34" charset="0"/>
              </a:rPr>
              <a:t>Top 5</a:t>
            </a:r>
            <a:r>
              <a:rPr lang="en-US" sz="1400" b="1" baseline="0" dirty="0">
                <a:latin typeface="Arial" panose="020B0604020202020204" pitchFamily="34" charset="0"/>
                <a:cs typeface="Arial" panose="020B0604020202020204" pitchFamily="34" charset="0"/>
              </a:rPr>
              <a:t> N</a:t>
            </a:r>
            <a:r>
              <a:rPr lang="en-US" sz="1400" b="1" dirty="0">
                <a:latin typeface="Arial" panose="020B0604020202020204" pitchFamily="34" charset="0"/>
                <a:cs typeface="Arial" panose="020B0604020202020204" pitchFamily="34" charset="0"/>
              </a:rPr>
              <a:t>umber of Flights based on Distance group</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pattFill prst="ltUpDiag">
            <a:fgClr>
              <a:schemeClr val="accent1"/>
            </a:fgClr>
            <a:bgClr>
              <a:schemeClr val="lt1"/>
            </a:bgClr>
          </a:pattFill>
          <a:ln>
            <a:noFill/>
          </a:ln>
          <a:effectLst/>
        </c:spPr>
        <c:dLbl>
          <c:idx val="0"/>
          <c:spPr>
            <a:solidFill>
              <a:srgbClr val="4472C4">
                <a:alpha val="70000"/>
              </a:srgb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1"/>
        <c:spPr>
          <a:pattFill prst="ltUpDiag">
            <a:fgClr>
              <a:schemeClr val="accent1"/>
            </a:fgClr>
            <a:bgClr>
              <a:schemeClr val="lt1"/>
            </a:bgClr>
          </a:pattFill>
          <a:ln>
            <a:noFill/>
          </a:ln>
          <a:effectLst/>
        </c:spPr>
        <c:marker>
          <c:symbol val="none"/>
        </c:marker>
        <c:dLbl>
          <c:idx val="0"/>
          <c:spPr>
            <a:solidFill>
              <a:srgbClr val="4472C4">
                <a:alpha val="70000"/>
              </a:srgb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pattFill prst="ltUpDiag">
            <a:fgClr>
              <a:schemeClr val="accent1"/>
            </a:fgClr>
            <a:bgClr>
              <a:schemeClr val="lt1"/>
            </a:bgClr>
          </a:pattFill>
          <a:ln>
            <a:noFill/>
          </a:ln>
          <a:effectLst/>
        </c:spPr>
        <c:marker>
          <c:symbol val="none"/>
        </c:marker>
        <c:dLbl>
          <c:idx val="0"/>
          <c:spPr>
            <a:solidFill>
              <a:srgbClr val="4472C4">
                <a:alpha val="70000"/>
              </a:srgb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pattFill prst="ltUpDiag">
            <a:fgClr>
              <a:schemeClr val="accent1"/>
            </a:fgClr>
            <a:bgClr>
              <a:schemeClr val="lt1"/>
            </a:bgClr>
          </a:pattFill>
          <a:ln>
            <a:noFill/>
          </a:ln>
          <a:effectLst/>
        </c:spPr>
        <c:marker>
          <c:symbol val="none"/>
        </c:marker>
        <c:dLbl>
          <c:idx val="0"/>
          <c:spPr>
            <a:solidFill>
              <a:srgbClr val="4472C4">
                <a:alpha val="70000"/>
              </a:srgb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'KPI 7'!$B$3</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'KPI 7'!$A$4:$A$9</c:f>
              <c:strCache>
                <c:ptCount val="5"/>
                <c:pt idx="0">
                  <c:v>2000-2499 Miles</c:v>
                </c:pt>
                <c:pt idx="1">
                  <c:v>1500-1999 Miles</c:v>
                </c:pt>
                <c:pt idx="2">
                  <c:v>1000-1499 Miles</c:v>
                </c:pt>
                <c:pt idx="3">
                  <c:v>500-999 Miles</c:v>
                </c:pt>
                <c:pt idx="4">
                  <c:v>Less Than 500 Miles</c:v>
                </c:pt>
              </c:strCache>
            </c:strRef>
          </c:cat>
          <c:val>
            <c:numRef>
              <c:f>'KPI 7'!$B$4:$B$9</c:f>
              <c:numCache>
                <c:formatCode>General</c:formatCode>
                <c:ptCount val="5"/>
                <c:pt idx="0">
                  <c:v>2038</c:v>
                </c:pt>
                <c:pt idx="1">
                  <c:v>4740</c:v>
                </c:pt>
                <c:pt idx="2">
                  <c:v>9723</c:v>
                </c:pt>
                <c:pt idx="3">
                  <c:v>23816</c:v>
                </c:pt>
                <c:pt idx="4">
                  <c:v>44717</c:v>
                </c:pt>
              </c:numCache>
            </c:numRef>
          </c:val>
          <c:extLst>
            <c:ext xmlns:c16="http://schemas.microsoft.com/office/drawing/2014/chart" uri="{C3380CC4-5D6E-409C-BE32-E72D297353CC}">
              <c16:uniqueId val="{00000000-56BE-492F-8276-BF553B129B60}"/>
            </c:ext>
          </c:extLst>
        </c:ser>
        <c:dLbls>
          <c:dLblPos val="outEnd"/>
          <c:showLegendKey val="0"/>
          <c:showVal val="1"/>
          <c:showCatName val="0"/>
          <c:showSerName val="0"/>
          <c:showPercent val="0"/>
          <c:showBubbleSize val="0"/>
        </c:dLbls>
        <c:gapWidth val="100"/>
        <c:overlap val="-24"/>
        <c:axId val="795236607"/>
        <c:axId val="795247167"/>
      </c:barChart>
      <c:catAx>
        <c:axId val="795236607"/>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795247167"/>
        <c:crosses val="autoZero"/>
        <c:auto val="1"/>
        <c:lblAlgn val="ctr"/>
        <c:lblOffset val="100"/>
        <c:noMultiLvlLbl val="0"/>
      </c:catAx>
      <c:valAx>
        <c:axId val="795247167"/>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79523660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294">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dk1">
            <a:lumMod val="50000"/>
            <a:lumOff val="50000"/>
          </a:schemeClr>
        </a:solidFill>
        <a:round/>
      </a:ln>
    </cs:spPr>
  </cs:gridlineMajor>
  <cs:gridlineMinor>
    <cs:lnRef idx="0"/>
    <cs:fillRef idx="0"/>
    <cs:effectRef idx="0"/>
    <cs:fontRef idx="minor">
      <a:schemeClr val="tx1"/>
    </cs:fontRef>
    <cs:spPr>
      <a:ln>
        <a:solidFill>
          <a:schemeClr val="dk1">
            <a:lumMod val="60000"/>
            <a:lumOff val="4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5.xml><?xml version="1.0" encoding="utf-8"?>
<cs:chartStyle xmlns:cs="http://schemas.microsoft.com/office/drawing/2012/chartStyle" xmlns:a="http://schemas.openxmlformats.org/drawingml/2006/main" id="291">
  <cs:axisTitle>
    <cs:lnRef idx="0"/>
    <cs:fillRef idx="0"/>
    <cs:effectRef idx="0"/>
    <cs:fontRef idx="minor">
      <a:schemeClr val="lt1">
        <a:lumMod val="75000"/>
      </a:schemeClr>
    </cs:fontRef>
    <cs:defRPr sz="1197" kern="1200"/>
  </cs:axisTitle>
  <cs:categoryAxis>
    <cs:lnRef idx="0"/>
    <cs:fillRef idx="0"/>
    <cs:effectRef idx="0"/>
    <cs:fontRef idx="minor">
      <a:schemeClr val="lt1">
        <a:lumMod val="75000"/>
      </a:schemeClr>
    </cs:fontRef>
    <cs:defRPr sz="1197" kern="1200"/>
  </cs:categoryAxis>
  <cs:chartArea>
    <cs:lnRef idx="0"/>
    <cs:fillRef idx="0"/>
    <cs:effectRef idx="0"/>
    <cs:fontRef idx="minor">
      <a:schemeClr val="lt1"/>
    </cs:fontRef>
    <cs:spPr>
      <a:solidFill>
        <a:schemeClr val="dk1">
          <a:lumMod val="75000"/>
          <a:lumOff val="25000"/>
        </a:schemeClr>
      </a:solidFill>
      <a:ln w="6350" cap="flat" cmpd="sng" algn="ctr">
        <a:solidFill>
          <a:schemeClr val="dk1">
            <a:tint val="75000"/>
          </a:schemeClr>
        </a:solidFill>
        <a:round/>
      </a:ln>
    </cs:spPr>
    <cs:defRPr sz="1330" kern="1200"/>
  </cs:chartArea>
  <cs:dataLabel>
    <cs:lnRef idx="0"/>
    <cs:fillRef idx="0">
      <cs:styleClr val="auto"/>
    </cs:fillRef>
    <cs:effectRef idx="0"/>
    <cs:fontRef idx="minor">
      <a:schemeClr val="lt1"/>
    </cs:fontRef>
    <cs:spPr>
      <a:solidFill>
        <a:schemeClr val="phClr">
          <a:alpha val="30000"/>
        </a:schemeClr>
      </a:solidFill>
      <a:ln>
        <a:solidFill>
          <a:schemeClr val="lt1">
            <a:alpha val="50000"/>
          </a:schemeClr>
        </a:solidFill>
        <a:round/>
      </a:ln>
      <a:effectLst>
        <a:outerShdw blurRad="63500" dist="88900" dir="2700000" algn="tl" rotWithShape="0">
          <a:prstClr val="black">
            <a:alpha val="40000"/>
          </a:prstClr>
        </a:outerShdw>
      </a:effectLst>
    </cs:spPr>
    <cs:defRPr sz="1197" b="1" i="0" u="none" strike="noStrike" kern="1200" baseline="0"/>
  </cs:dataLabel>
  <cs:dataLabelCallout>
    <cs:lnRef idx="0"/>
    <cs:fillRef idx="0">
      <cs:styleClr val="auto"/>
    </cs:fillRef>
    <cs:effectRef idx="0"/>
    <cs:fontRef idx="minor">
      <a:schemeClr val="lt1"/>
    </cs:fontRef>
    <cs:spPr>
      <a:solidFill>
        <a:schemeClr val="phClr">
          <a:alpha val="30000"/>
        </a:schemeClr>
      </a:solidFill>
      <a:ln>
        <a:solidFill>
          <a:schemeClr val="lt1">
            <a:alpha val="50000"/>
          </a:schemeClr>
        </a:solidFill>
        <a:round/>
      </a:ln>
      <a:effectLst>
        <a:outerShdw blurRad="63500" dist="88900" dir="2700000" algn="tl" rotWithShape="0">
          <a:prstClr val="black">
            <a:alpha val="40000"/>
          </a:prstClr>
        </a:outerShdw>
      </a:effectLst>
    </cs:spPr>
    <cs:defRPr sz="1197" b="1" i="0" u="none" strike="noStrike" kern="1200" baseline="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alpha val="88000"/>
        </a:schemeClr>
      </a:solidFill>
      <a:ln>
        <a:solidFill>
          <a:schemeClr val="phClr">
            <a:lumMod val="50000"/>
          </a:schemeClr>
        </a:solidFill>
      </a:ln>
    </cs:spPr>
  </cs:dataPoint>
  <cs:dataPoint3D>
    <cs:lnRef idx="0">
      <cs:styleClr val="auto"/>
    </cs:lnRef>
    <cs:fillRef idx="0">
      <cs:styleClr val="auto"/>
    </cs:fillRef>
    <cs:effectRef idx="0"/>
    <cs:fontRef idx="minor">
      <a:schemeClr val="tx1"/>
    </cs:fontRef>
    <cs:spPr>
      <a:solidFill>
        <a:schemeClr val="phClr">
          <a:alpha val="88000"/>
        </a:schemeClr>
      </a:solidFill>
      <a:ln>
        <a:solidFill>
          <a:schemeClr val="phClr">
            <a:lumMod val="50000"/>
          </a:schemeClr>
        </a:solidFill>
      </a:ln>
      <a:scene3d>
        <a:camera prst="orthographicFront"/>
        <a:lightRig rig="threePt" dir="t"/>
      </a:scene3d>
      <a:sp3d prstMaterial="flat"/>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dk1">
            <a:lumMod val="75000"/>
            <a:lumOff val="25000"/>
          </a:schemeClr>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1197"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tx1"/>
    </cs:fontRef>
    <cs:spPr>
      <a:solidFill>
        <a:schemeClr val="bg2">
          <a:lumMod val="75000"/>
          <a:alpha val="27000"/>
        </a:schemeClr>
      </a:solidFill>
      <a:sp3d/>
    </cs:spPr>
  </cs:floor>
  <cs:gridlineMajor>
    <cs:lnRef idx="0"/>
    <cs:fillRef idx="0"/>
    <cs:effectRef idx="0"/>
    <cs:fontRef idx="minor">
      <a:schemeClr val="tx1"/>
    </cs:fontRef>
    <cs:spPr>
      <a:ln w="9525">
        <a:solidFill>
          <a:schemeClr val="lt1">
            <a:lumMod val="50000"/>
          </a:schemeClr>
        </a:solidFill>
      </a:ln>
    </cs:spPr>
  </cs:gridlineMajor>
  <cs:gridlineMinor>
    <cs:lnRef idx="0"/>
    <cs:fillRef idx="0"/>
    <cs:effectRef idx="0"/>
    <cs:fontRef idx="minor">
      <a:schemeClr val="tx1"/>
    </cs:fontRef>
    <cs:spPr>
      <a:ln w="9525">
        <a:solidFill>
          <a:schemeClr val="lt1">
            <a:lumMod val="40000"/>
          </a:schemeClr>
        </a:solidFill>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defRPr sz="1197"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cs:fontRef>
    <cs:defRPr sz="2200" b="0" kern="1200" cap="all" baseline="0"/>
  </cs:title>
  <cs:trendline>
    <cs:lnRef idx="0">
      <cs:styleClr val="auto"/>
    </cs:lnRef>
    <cs:fillRef idx="0"/>
    <cs:effectRef idx="0"/>
    <cs:fontRef idx="minor">
      <a:schemeClr val="dk1"/>
    </cs:fontRef>
    <cs:spPr>
      <a:ln w="9525" cap="rnd">
        <a:solidFill>
          <a:schemeClr val="phClr">
            <a:alpha val="50000"/>
          </a:schemeClr>
        </a:solidFill>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1197" kern="1200"/>
  </cs:valueAxis>
  <cs:wall>
    <cs:lnRef idx="0"/>
    <cs:fillRef idx="0"/>
    <cs:effectRef idx="0"/>
    <cs:fontRef idx="minor">
      <a:schemeClr val="tx1"/>
    </cs:fontRef>
    <cs:spPr>
      <a:sp3d/>
    </cs:spPr>
  </cs:wall>
</cs:chartStyle>
</file>

<file path=ppt/charts/style6.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5604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3C881-25C2-896C-96D3-FB7B39DA64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33C095-7139-09E6-CE9D-8EBE822567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82967E-49D5-0DE1-E316-7A4A4ABCC0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A76DB5-2109-7D82-514E-03CAB0B7A54D}"/>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760088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B7A79-82BE-8821-FCA4-497A3915DD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645254-1002-2BB6-75CB-2B867D1754A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681CD34-069A-EC95-C39C-6DD59528CE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31D901-7FB4-0573-342D-C74BFCCA415D}"/>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5047566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1A7C2-5950-7339-EF6D-7EC212FC5C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8045B0-3C2D-4F7D-8789-BD6C3561524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FFAD18A-44B5-4CE5-81E9-F3800335BC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30E5C0-F683-9137-5850-3DE45F630ACE}"/>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5445664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05C1C-610A-8D08-CD0D-7DC44D3A65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AD5EB1-A7E4-E3A0-02E6-CDE1D8BA458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B184C6B-3585-3C9C-0D85-68A43851D8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682608-1B33-262B-1A95-EB6D468C37A8}"/>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4527145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A854E-D48D-B184-9AA5-14D638415E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4787E0-9A19-CC25-65D1-C4E3EEBB994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826FDD8-B607-9966-D054-2473E08816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A023C5-64E3-0E1E-FE3D-82E03997C9FD}"/>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6292540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2A8BF-844F-C80D-1EAF-328B8E236E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2A50A6-E98D-C642-EDC4-7C4D7B0F2F1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E3D6939-944F-9EA1-BD84-2BABA3AFD5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05D88E-1A2E-FE27-3B20-FD01D0B8CA74}"/>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132184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F3EAC-2375-33B2-335A-C4D92FC22E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997D6A-DDCC-2F00-E071-82F6B9BA5B6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5CD2780-BCB4-4BEE-0699-379FFACE62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A11C17-7725-3B95-380C-6420A23D8B77}"/>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0998951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E6E6F-1AB6-4EA9-D7EF-3C0F20792C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088104-1402-8AD5-0F8E-F1C1E7CCA40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77C715D-3482-6B8C-A3F5-43F3BC31DD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3DD2C8-BC37-F31D-10EA-36CD3B2C668E}"/>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823868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5BF35-19D4-1CB0-D607-FDD7A55209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AC8895-83D7-7FB6-AA6A-23B3DF42F6F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DBCA816-4A0E-31F3-266E-A690EBCC98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4AFA1A-00D1-B468-80CC-5B3471994173}"/>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9423062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11879-A012-80E8-96F6-C4AB60C205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5EAE88-28D7-33BC-5D7C-5B2310D60A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B70CF0-BEE5-26A7-5D9A-1F345A9D66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355977-4265-6744-ED14-9F3DD5458908}"/>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7097063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B6ECE-8F1A-5E03-1694-4B8BC15F5C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C6FC88-2ED3-3F7D-5919-268D8CDFE0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8050F2-1B45-5D49-2E77-C153F8F20A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B59866-08FA-ECF9-0891-53BA844E0A26}"/>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4091951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DE1AA-8733-22C8-C736-EC551346B9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323401-8D85-FE42-E74C-A8952A2DEB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3B7E41-CCB4-53F1-D2C1-F77600C4CD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BF67EC-DDC9-8576-27DC-A51FD4D8FD97}"/>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5040854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E42CD-1123-E8A9-874F-EAAD9217AE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322758-9545-A813-6A95-E2DF060993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9B8A85-1CEC-D333-ED3C-496C8F0C66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03C88C-1E1B-072F-720A-DCE6907E4453}"/>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3439356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EC4E4-7294-B6FF-2587-C2750DD9A3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CDBD85-57A0-E1C6-EC8A-A18921952C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99F3E2-F5AB-0DD2-1932-027A1AE908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244D87-81B4-52F5-FFC9-BAFAECA7342E}"/>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7104620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634A8-6EF1-7165-D7A7-2FBFB790E7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8A05E3-668D-6DC4-9BAC-B2BA7AFA8D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948D1C-A3CE-5F3B-7883-D1C53EF027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C668DD-62B0-F742-6F83-A255AAB4CCEC}"/>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2972287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96372-AD66-5672-29B6-025F201630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BEE44B-1465-6F7A-BCFD-56DB43760C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DCDA37-1F21-03AA-9C32-0F4BB10AD9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ACB9B9-E503-145B-1360-0F16D4726D7B}"/>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1988219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9ECA9-C8B0-7FD6-479A-21C9650C47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DCFF08-DB20-CBD9-8796-6BB81342A3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A454B4-8612-0427-871C-7B26EEAB42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88C218-A93F-F0B2-D2B9-D55BF800C3B7}"/>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775107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A6E3A-9A35-96AC-691A-6CFB51A1D6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F88113-238F-E07A-E129-11026C8B22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442C69-2F0F-417D-52FA-5AE5149EBE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281F38-59C4-C831-C021-2BE864C5B5D8}"/>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3594839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B1FB7-ED8F-FF27-95A2-5E2680E6666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FFA268-2439-B5E7-8D71-299EC2C334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BA5911-4F18-116B-2524-9D5D0511B8FA}"/>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1E6B4E22-96D1-3A3D-A344-9833A2C3457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3E5CCC1-43B5-F81D-661B-FCF1ADFD2A50}"/>
              </a:ext>
            </a:extLst>
          </p:cNvPr>
          <p:cNvSpPr>
            <a:spLocks noGrp="1"/>
          </p:cNvSpPr>
          <p:nvPr>
            <p:ph type="sldNum" sz="quarter" idx="12"/>
          </p:nvPr>
        </p:nvSpPr>
        <p:spPr/>
        <p:txBody>
          <a:bodyPr/>
          <a:lstStyle/>
          <a:p>
            <a:fld id="{30F19B87-8C30-407C-BB16-41234FD6E1B9}" type="slidenum">
              <a:rPr lang="en-US" smtClean="0"/>
              <a:t>‹#›</a:t>
            </a:fld>
            <a:endParaRPr lang="en-US" dirty="0"/>
          </a:p>
        </p:txBody>
      </p:sp>
    </p:spTree>
    <p:extLst>
      <p:ext uri="{BB962C8B-B14F-4D97-AF65-F5344CB8AC3E}">
        <p14:creationId xmlns:p14="http://schemas.microsoft.com/office/powerpoint/2010/main" val="18182887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1" name="click.wav"/>
          </p:stSnd>
        </p:sndAc>
      </p:transition>
    </mc:Choice>
    <mc:Fallback xmlns="">
      <p:transition spd="slow">
        <p:fade/>
        <p:sndAc>
          <p:stSnd>
            <p:snd r:embed="rId3" name="click.wav"/>
          </p:stSnd>
        </p:sndAc>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7" Type="http://schemas.openxmlformats.org/officeDocument/2006/relationships/image" Target="../media/image13.jp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jpg"/></Relationships>
</file>

<file path=ppt/slides/_rels/slide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chart" Target="../charts/char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chart" Target="../charts/char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chart" Target="../charts/chart4.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chart" Target="../charts/chart5.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chart" Target="../charts/chart6.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0.jpeg"/></Relationships>
</file>

<file path=ppt/slides/_rels/slide1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12.jpg"/><Relationship Id="rId7" Type="http://schemas.openxmlformats.org/officeDocument/2006/relationships/image" Target="../media/image26.jpe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s>
</file>

<file path=ppt/slides/_rels/slide22.xml.rels><?xml version="1.0" encoding="UTF-8" standalone="yes"?>
<Relationships xmlns="http://schemas.openxmlformats.org/package/2006/relationships"><Relationship Id="rId3" Type="http://schemas.openxmlformats.org/officeDocument/2006/relationships/image" Target="../media/image12.jpg"/><Relationship Id="rId7" Type="http://schemas.openxmlformats.org/officeDocument/2006/relationships/image" Target="../media/image30.jpe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jpeg"/></Relationships>
</file>

<file path=ppt/slides/_rels/slide23.xml.rels><?xml version="1.0" encoding="UTF-8" standalone="yes"?>
<Relationships xmlns="http://schemas.openxmlformats.org/package/2006/relationships"><Relationship Id="rId3" Type="http://schemas.openxmlformats.org/officeDocument/2006/relationships/image" Target="../media/image12.jpg"/><Relationship Id="rId7" Type="http://schemas.openxmlformats.org/officeDocument/2006/relationships/image" Target="../media/image34.jpe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3.jpeg"/><Relationship Id="rId5" Type="http://schemas.openxmlformats.org/officeDocument/2006/relationships/image" Target="../media/image32.jpeg"/><Relationship Id="rId4" Type="http://schemas.openxmlformats.org/officeDocument/2006/relationships/image" Target="../media/image31.jpeg"/></Relationships>
</file>

<file path=ppt/slides/_rels/slide2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s>
</file>

<file path=ppt/slides/_rels/slide25.xml.rels><?xml version="1.0" encoding="UTF-8" standalone="yes"?>
<Relationships xmlns="http://schemas.openxmlformats.org/package/2006/relationships"><Relationship Id="rId3" Type="http://schemas.openxmlformats.org/officeDocument/2006/relationships/image" Target="../media/image9.jpg"/><Relationship Id="rId7" Type="http://schemas.openxmlformats.org/officeDocument/2006/relationships/image" Target="../media/image11.jp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10.jpg"/></Relationships>
</file>

<file path=ppt/slides/_rels/slide2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68E0FD7-3C81-96C4-0058-0216ECABE50B}"/>
              </a:ext>
            </a:extLst>
          </p:cNvPr>
          <p:cNvPicPr>
            <a:picLocks noChangeAspect="1"/>
          </p:cNvPicPr>
          <p:nvPr/>
        </p:nvPicPr>
        <p:blipFill>
          <a:blip r:embed="rId3"/>
          <a:stretch>
            <a:fillRect/>
          </a:stretch>
        </p:blipFill>
        <p:spPr>
          <a:xfrm>
            <a:off x="0" y="0"/>
            <a:ext cx="9144000" cy="5143500"/>
          </a:xfrm>
          <a:prstGeom prst="rect">
            <a:avLst/>
          </a:prstGeom>
        </p:spPr>
      </p:pic>
      <p:pic>
        <p:nvPicPr>
          <p:cNvPr id="12" name="Picture 11">
            <a:extLst>
              <a:ext uri="{FF2B5EF4-FFF2-40B4-BE49-F238E27FC236}">
                <a16:creationId xmlns:a16="http://schemas.microsoft.com/office/drawing/2014/main" id="{B65D9FE4-634A-05D5-C15B-46869800EF0B}"/>
              </a:ext>
            </a:extLst>
          </p:cNvPr>
          <p:cNvPicPr>
            <a:picLocks noChangeAspect="1"/>
          </p:cNvPicPr>
          <p:nvPr/>
        </p:nvPicPr>
        <p:blipFill>
          <a:blip r:embed="rId4"/>
          <a:stretch>
            <a:fillRect/>
          </a:stretch>
        </p:blipFill>
        <p:spPr>
          <a:xfrm>
            <a:off x="0" y="693"/>
            <a:ext cx="9144000" cy="5142807"/>
          </a:xfrm>
          <a:prstGeom prst="rect">
            <a:avLst/>
          </a:prstGeom>
        </p:spPr>
      </p:pic>
      <p:pic>
        <p:nvPicPr>
          <p:cNvPr id="4" name="Image 0" descr="preencoded.png"/>
          <p:cNvPicPr>
            <a:picLocks noChangeAspect="1"/>
          </p:cNvPicPr>
          <p:nvPr/>
        </p:nvPicPr>
        <p:blipFill>
          <a:blip r:embed="rId5"/>
          <a:stretch>
            <a:fillRect/>
          </a:stretch>
        </p:blipFill>
        <p:spPr>
          <a:xfrm>
            <a:off x="569742" y="183227"/>
            <a:ext cx="640080" cy="640080"/>
          </a:xfrm>
          <a:prstGeom prst="rect">
            <a:avLst/>
          </a:prstGeom>
        </p:spPr>
      </p:pic>
      <p:sp>
        <p:nvSpPr>
          <p:cNvPr id="5" name="Text 2"/>
          <p:cNvSpPr/>
          <p:nvPr/>
        </p:nvSpPr>
        <p:spPr>
          <a:xfrm>
            <a:off x="640080" y="1645920"/>
            <a:ext cx="7772400" cy="822960"/>
          </a:xfrm>
          <a:prstGeom prst="rect">
            <a:avLst/>
          </a:prstGeom>
          <a:noFill/>
          <a:ln/>
        </p:spPr>
        <p:txBody>
          <a:bodyPr wrap="square" lIns="0" tIns="0" rIns="0" bIns="0"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High Cloud Airlines Analytics</a:t>
            </a:r>
            <a:endParaRPr lang="en-US" sz="4000" dirty="0"/>
          </a:p>
        </p:txBody>
      </p:sp>
      <p:sp>
        <p:nvSpPr>
          <p:cNvPr id="7" name="Text 4"/>
          <p:cNvSpPr/>
          <p:nvPr/>
        </p:nvSpPr>
        <p:spPr>
          <a:xfrm>
            <a:off x="640080" y="3108959"/>
            <a:ext cx="2790874" cy="1713133"/>
          </a:xfrm>
          <a:prstGeom prst="rect">
            <a:avLst/>
          </a:prstGeom>
          <a:noFill/>
          <a:ln>
            <a:solidFill>
              <a:schemeClr val="bg2">
                <a:lumMod val="90000"/>
              </a:schemeClr>
            </a:solidFill>
          </a:ln>
        </p:spPr>
        <p:txBody>
          <a:bodyPr wrap="square" lIns="0" tIns="0" rIns="0" bIns="0" rtlCol="0" anchor="ctr"/>
          <a:lstStyle/>
          <a:p>
            <a:r>
              <a:rPr lang="en-US" sz="1400" b="1" dirty="0">
                <a:solidFill>
                  <a:srgbClr val="00B0F0"/>
                </a:solidFill>
                <a:cs typeface="Arial" panose="020B0604020202020204" pitchFamily="34" charset="0"/>
              </a:rPr>
              <a:t>Presented By:  Group No.- 03</a:t>
            </a:r>
          </a:p>
          <a:p>
            <a:endParaRPr lang="en-US" sz="1400" b="1" u="sng" dirty="0">
              <a:solidFill>
                <a:srgbClr val="00B0F0"/>
              </a:solidFill>
              <a:cs typeface="Arial" panose="020B0604020202020204" pitchFamily="34" charset="0"/>
            </a:endParaRPr>
          </a:p>
          <a:p>
            <a:r>
              <a:rPr lang="en-US" sz="1400" i="1" dirty="0">
                <a:solidFill>
                  <a:srgbClr val="00B0F0"/>
                </a:solidFill>
                <a:ea typeface="Calibri" pitchFamily="34" charset="-122"/>
                <a:cs typeface="Calibri" panose="020F0502020204030204" pitchFamily="34" charset="0"/>
              </a:rPr>
              <a:t>Rekha Naresh Balsara</a:t>
            </a:r>
          </a:p>
          <a:p>
            <a:r>
              <a:rPr lang="en-US" sz="1400" i="1" dirty="0" err="1">
                <a:solidFill>
                  <a:srgbClr val="00B0F0"/>
                </a:solidFill>
                <a:cs typeface="Calibri" panose="020F0502020204030204" pitchFamily="34" charset="0"/>
              </a:rPr>
              <a:t>Karumanchi</a:t>
            </a:r>
            <a:r>
              <a:rPr lang="en-US" sz="1400" i="1" dirty="0">
                <a:solidFill>
                  <a:srgbClr val="00B0F0"/>
                </a:solidFill>
                <a:cs typeface="Calibri" panose="020F0502020204030204" pitchFamily="34" charset="0"/>
              </a:rPr>
              <a:t> Haseena</a:t>
            </a:r>
          </a:p>
          <a:p>
            <a:r>
              <a:rPr lang="en-US" sz="1400" i="1" dirty="0" err="1">
                <a:solidFill>
                  <a:srgbClr val="00B0F0"/>
                </a:solidFill>
                <a:cs typeface="Calibri" panose="020F0502020204030204" pitchFamily="34" charset="0"/>
              </a:rPr>
              <a:t>Moyyi</a:t>
            </a:r>
            <a:r>
              <a:rPr lang="en-US" sz="1400" i="1" dirty="0">
                <a:solidFill>
                  <a:srgbClr val="00B0F0"/>
                </a:solidFill>
                <a:cs typeface="Calibri" panose="020F0502020204030204" pitchFamily="34" charset="0"/>
              </a:rPr>
              <a:t> </a:t>
            </a:r>
            <a:r>
              <a:rPr lang="en-US" sz="1400" i="1" dirty="0" err="1">
                <a:solidFill>
                  <a:srgbClr val="00B0F0"/>
                </a:solidFill>
                <a:cs typeface="Calibri" panose="020F0502020204030204" pitchFamily="34" charset="0"/>
              </a:rPr>
              <a:t>Kusumakumari</a:t>
            </a:r>
            <a:endParaRPr lang="en-US" sz="1400" i="1" dirty="0">
              <a:solidFill>
                <a:srgbClr val="00B0F0"/>
              </a:solidFill>
              <a:cs typeface="Calibri" panose="020F0502020204030204" pitchFamily="34" charset="0"/>
            </a:endParaRPr>
          </a:p>
          <a:p>
            <a:r>
              <a:rPr lang="en-US" sz="1400" i="1" dirty="0">
                <a:solidFill>
                  <a:srgbClr val="00B0F0"/>
                </a:solidFill>
                <a:cs typeface="Calibri" panose="020F0502020204030204" pitchFamily="34" charset="0"/>
              </a:rPr>
              <a:t>Muhammed Rashid K</a:t>
            </a:r>
          </a:p>
          <a:p>
            <a:r>
              <a:rPr lang="en-US" sz="1400" i="1" dirty="0">
                <a:solidFill>
                  <a:srgbClr val="00B0F0"/>
                </a:solidFill>
                <a:cs typeface="Calibri" panose="020F0502020204030204" pitchFamily="34" charset="0"/>
              </a:rPr>
              <a:t>Praveenkumar </a:t>
            </a:r>
            <a:r>
              <a:rPr lang="en-US" sz="1400" i="1" dirty="0" err="1">
                <a:solidFill>
                  <a:srgbClr val="00B0F0"/>
                </a:solidFill>
                <a:cs typeface="Calibri" panose="020F0502020204030204" pitchFamily="34" charset="0"/>
              </a:rPr>
              <a:t>Badanikai</a:t>
            </a:r>
            <a:endParaRPr lang="en-US" sz="1400" i="1" dirty="0">
              <a:solidFill>
                <a:srgbClr val="00B0F0"/>
              </a:solidFill>
              <a:cs typeface="Calibri" panose="020F0502020204030204" pitchFamily="34" charset="0"/>
            </a:endParaRPr>
          </a:p>
          <a:p>
            <a:r>
              <a:rPr lang="en-US" sz="1400" i="1" dirty="0" err="1">
                <a:solidFill>
                  <a:srgbClr val="00B0F0"/>
                </a:solidFill>
                <a:cs typeface="Calibri" panose="020F0502020204030204" pitchFamily="34" charset="0"/>
              </a:rPr>
              <a:t>Tarish</a:t>
            </a:r>
            <a:r>
              <a:rPr lang="en-US" sz="1400" i="1" dirty="0">
                <a:solidFill>
                  <a:srgbClr val="00B0F0"/>
                </a:solidFill>
                <a:cs typeface="Calibri" panose="020F0502020204030204" pitchFamily="34" charset="0"/>
              </a:rPr>
              <a:t> Grover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DF8CFC-5F49-E6B6-C23B-39593E9E8CFE}"/>
            </a:ext>
          </a:extLst>
        </p:cNvPr>
        <p:cNvGrpSpPr/>
        <p:nvPr/>
      </p:nvGrpSpPr>
      <p:grpSpPr>
        <a:xfrm>
          <a:off x="0" y="0"/>
          <a:ext cx="0" cy="0"/>
          <a:chOff x="0" y="0"/>
          <a:chExt cx="0" cy="0"/>
        </a:xfrm>
      </p:grpSpPr>
      <p:sp>
        <p:nvSpPr>
          <p:cNvPr id="65" name="Rectangle 64">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BB2A623B-66F9-0B4F-69B2-EE144C83CEE5}"/>
              </a:ext>
            </a:extLst>
          </p:cNvPr>
          <p:cNvPicPr>
            <a:picLocks noChangeAspect="1"/>
          </p:cNvPicPr>
          <p:nvPr/>
        </p:nvPicPr>
        <p:blipFill>
          <a:blip r:embed="rId3">
            <a:alphaModFix amt="35000"/>
          </a:blip>
          <a:srcRect t="4291" b="11439"/>
          <a:stretch>
            <a:fillRect/>
          </a:stretch>
        </p:blipFill>
        <p:spPr>
          <a:xfrm>
            <a:off x="20" y="10"/>
            <a:ext cx="9143980" cy="5143490"/>
          </a:xfrm>
          <a:prstGeom prst="rect">
            <a:avLst/>
          </a:prstGeom>
        </p:spPr>
      </p:pic>
      <p:sp>
        <p:nvSpPr>
          <p:cNvPr id="2" name="Text 0">
            <a:extLst>
              <a:ext uri="{FF2B5EF4-FFF2-40B4-BE49-F238E27FC236}">
                <a16:creationId xmlns:a16="http://schemas.microsoft.com/office/drawing/2014/main" id="{CAC7C177-776F-9E2B-65A9-86EF37009910}"/>
              </a:ext>
            </a:extLst>
          </p:cNvPr>
          <p:cNvSpPr/>
          <p:nvPr/>
        </p:nvSpPr>
        <p:spPr>
          <a:xfrm>
            <a:off x="628650" y="273843"/>
            <a:ext cx="7886700" cy="994173"/>
          </a:xfrm>
          <a:prstGeom prst="rect">
            <a:avLst/>
          </a:prstGeom>
        </p:spPr>
        <p:txBody>
          <a:bodyPr vert="horz" lIns="91440" tIns="45720" rIns="91440" bIns="45720" rtlCol="0" anchor="ctr">
            <a:normAutofit/>
          </a:bodyPr>
          <a:lstStyle/>
          <a:p>
            <a:pPr marL="0" indent="0">
              <a:lnSpc>
                <a:spcPct val="90000"/>
              </a:lnSpc>
              <a:spcBef>
                <a:spcPct val="0"/>
              </a:spcBef>
              <a:spcAft>
                <a:spcPts val="600"/>
              </a:spcAft>
            </a:pPr>
            <a:r>
              <a:rPr lang="en-US" sz="4000" b="1" dirty="0">
                <a:solidFill>
                  <a:schemeClr val="accent1">
                    <a:lumMod val="75000"/>
                  </a:schemeClr>
                </a:solidFill>
                <a:highlight>
                  <a:srgbClr val="C0C0C0"/>
                </a:highlight>
                <a:latin typeface="Algerian" panose="04020705040A02060702" pitchFamily="82" charset="0"/>
                <a:ea typeface="+mj-ea"/>
                <a:cs typeface="+mj-cs"/>
              </a:rPr>
              <a:t>CONTENTS</a:t>
            </a:r>
            <a:endParaRPr lang="en-US" sz="4000" dirty="0">
              <a:solidFill>
                <a:schemeClr val="accent1">
                  <a:lumMod val="75000"/>
                </a:schemeClr>
              </a:solidFill>
              <a:highlight>
                <a:srgbClr val="C0C0C0"/>
              </a:highlight>
              <a:latin typeface="Algerian" panose="04020705040A02060702" pitchFamily="82" charset="0"/>
              <a:ea typeface="+mj-ea"/>
              <a:cs typeface="+mj-cs"/>
            </a:endParaRPr>
          </a:p>
        </p:txBody>
      </p:sp>
      <p:sp>
        <p:nvSpPr>
          <p:cNvPr id="3" name="Text 1">
            <a:extLst>
              <a:ext uri="{FF2B5EF4-FFF2-40B4-BE49-F238E27FC236}">
                <a16:creationId xmlns:a16="http://schemas.microsoft.com/office/drawing/2014/main" id="{CA2D2B68-1EAC-CA61-5A55-124A823D203A}"/>
              </a:ext>
            </a:extLst>
          </p:cNvPr>
          <p:cNvSpPr/>
          <p:nvPr/>
        </p:nvSpPr>
        <p:spPr>
          <a:xfrm>
            <a:off x="628650" y="1369218"/>
            <a:ext cx="7886700" cy="3263504"/>
          </a:xfrm>
          <a:prstGeom prst="rect">
            <a:avLst/>
          </a:prstGeom>
        </p:spPr>
        <p:txBody>
          <a:bodyPr vert="horz" lIns="91440" tIns="45720" rIns="91440" bIns="45720" rtlCol="0">
            <a:normAutofit/>
          </a:bodyPr>
          <a:lstStyle/>
          <a:p>
            <a:pPr marL="342900" indent="-228600">
              <a:lnSpc>
                <a:spcPct val="90000"/>
              </a:lnSpc>
              <a:spcAft>
                <a:spcPts val="600"/>
              </a:spcAft>
              <a:buClrTx/>
              <a:buFont typeface="Arial" panose="020B0604020202020204" pitchFamily="34" charset="0"/>
              <a:buChar char="•"/>
            </a:pPr>
            <a:r>
              <a:rPr lang="en-US" sz="1400" dirty="0">
                <a:solidFill>
                  <a:srgbClr val="FFFFFF"/>
                </a:solidFill>
              </a:rPr>
              <a:t>Introduction</a:t>
            </a:r>
          </a:p>
          <a:p>
            <a:pPr marL="342900" indent="-228600">
              <a:lnSpc>
                <a:spcPct val="90000"/>
              </a:lnSpc>
              <a:spcAft>
                <a:spcPts val="600"/>
              </a:spcAft>
              <a:buClrTx/>
              <a:buFont typeface="Arial" panose="020B0604020202020204" pitchFamily="34" charset="0"/>
              <a:buChar char="•"/>
            </a:pPr>
            <a:r>
              <a:rPr lang="en-US" sz="1400" dirty="0">
                <a:solidFill>
                  <a:srgbClr val="FFFFFF"/>
                </a:solidFill>
              </a:rPr>
              <a:t>Objective</a:t>
            </a:r>
          </a:p>
          <a:p>
            <a:pPr marL="342900" indent="-228600">
              <a:lnSpc>
                <a:spcPct val="90000"/>
              </a:lnSpc>
              <a:spcAft>
                <a:spcPts val="600"/>
              </a:spcAft>
              <a:buClrTx/>
              <a:buFont typeface="Arial" panose="020B0604020202020204" pitchFamily="34" charset="0"/>
              <a:buChar char="•"/>
            </a:pPr>
            <a:r>
              <a:rPr lang="en-US" sz="1400" dirty="0">
                <a:solidFill>
                  <a:srgbClr val="FFFFFF"/>
                </a:solidFill>
              </a:rPr>
              <a:t>Business Overview</a:t>
            </a:r>
          </a:p>
          <a:p>
            <a:pPr marL="342900" indent="-228600">
              <a:lnSpc>
                <a:spcPct val="90000"/>
              </a:lnSpc>
              <a:spcAft>
                <a:spcPts val="600"/>
              </a:spcAft>
              <a:buClrTx/>
              <a:buFont typeface="Arial" panose="020B0604020202020204" pitchFamily="34" charset="0"/>
              <a:buChar char="•"/>
            </a:pPr>
            <a:r>
              <a:rPr lang="en-US" sz="1400" dirty="0">
                <a:solidFill>
                  <a:srgbClr val="FFFFFF"/>
                </a:solidFill>
              </a:rPr>
              <a:t>Data Model challenges</a:t>
            </a:r>
          </a:p>
          <a:p>
            <a:pPr marL="342900" indent="-228600">
              <a:lnSpc>
                <a:spcPct val="90000"/>
              </a:lnSpc>
              <a:spcAft>
                <a:spcPts val="600"/>
              </a:spcAft>
              <a:buClrTx/>
              <a:buFont typeface="Arial" panose="020B0604020202020204" pitchFamily="34" charset="0"/>
              <a:buChar char="•"/>
            </a:pPr>
            <a:r>
              <a:rPr lang="en-US" sz="1400" dirty="0">
                <a:solidFill>
                  <a:srgbClr val="FFFFFF"/>
                </a:solidFill>
              </a:rPr>
              <a:t>KPI’s Analysis</a:t>
            </a:r>
          </a:p>
          <a:p>
            <a:pPr marL="342900" indent="-228600">
              <a:lnSpc>
                <a:spcPct val="90000"/>
              </a:lnSpc>
              <a:spcAft>
                <a:spcPts val="600"/>
              </a:spcAft>
              <a:buClrTx/>
              <a:buFont typeface="Arial" panose="020B0604020202020204" pitchFamily="34" charset="0"/>
              <a:buChar char="•"/>
            </a:pPr>
            <a:r>
              <a:rPr lang="en-US" sz="1400" dirty="0">
                <a:solidFill>
                  <a:srgbClr val="FFFFFF"/>
                </a:solidFill>
              </a:rPr>
              <a:t>Dashboards</a:t>
            </a:r>
          </a:p>
          <a:p>
            <a:pPr marL="800100" lvl="1" indent="-228600">
              <a:lnSpc>
                <a:spcPct val="90000"/>
              </a:lnSpc>
              <a:spcAft>
                <a:spcPts val="600"/>
              </a:spcAft>
              <a:buClr>
                <a:schemeClr val="tx1"/>
              </a:buClr>
              <a:buSzPct val="82000"/>
              <a:buFont typeface="Arial" panose="020B0604020202020204" pitchFamily="34" charset="0"/>
              <a:buChar char="•"/>
            </a:pPr>
            <a:r>
              <a:rPr lang="en-US" sz="1400" dirty="0">
                <a:solidFill>
                  <a:srgbClr val="FFFFFF"/>
                </a:solidFill>
              </a:rPr>
              <a:t> Excel Dashboard </a:t>
            </a:r>
          </a:p>
          <a:p>
            <a:pPr marL="800100" lvl="1" indent="-228600">
              <a:lnSpc>
                <a:spcPct val="90000"/>
              </a:lnSpc>
              <a:spcAft>
                <a:spcPts val="600"/>
              </a:spcAft>
              <a:buClr>
                <a:schemeClr val="tx1"/>
              </a:buClr>
              <a:buSzPct val="82000"/>
              <a:buFont typeface="Arial" panose="020B0604020202020204" pitchFamily="34" charset="0"/>
              <a:buChar char="•"/>
            </a:pPr>
            <a:r>
              <a:rPr lang="en-US" sz="1400" dirty="0">
                <a:solidFill>
                  <a:srgbClr val="FFFFFF"/>
                </a:solidFill>
              </a:rPr>
              <a:t> Tableau Dashboard</a:t>
            </a:r>
          </a:p>
          <a:p>
            <a:pPr marL="800100" lvl="1" indent="-228600">
              <a:lnSpc>
                <a:spcPct val="90000"/>
              </a:lnSpc>
              <a:spcAft>
                <a:spcPts val="600"/>
              </a:spcAft>
              <a:buClr>
                <a:schemeClr val="tx1"/>
              </a:buClr>
              <a:buSzPct val="82000"/>
              <a:buFont typeface="Arial" panose="020B0604020202020204" pitchFamily="34" charset="0"/>
              <a:buChar char="•"/>
            </a:pPr>
            <a:r>
              <a:rPr lang="en-US" sz="1400" dirty="0">
                <a:solidFill>
                  <a:srgbClr val="FFFFFF"/>
                </a:solidFill>
              </a:rPr>
              <a:t> Power BI Dashboard</a:t>
            </a:r>
          </a:p>
          <a:p>
            <a:pPr marL="800100" lvl="1" indent="-228600">
              <a:lnSpc>
                <a:spcPct val="90000"/>
              </a:lnSpc>
              <a:spcAft>
                <a:spcPts val="600"/>
              </a:spcAft>
              <a:buClr>
                <a:schemeClr val="tx1"/>
              </a:buClr>
              <a:buSzPct val="82000"/>
              <a:buFont typeface="Arial" panose="020B0604020202020204" pitchFamily="34" charset="0"/>
              <a:buChar char="•"/>
            </a:pPr>
            <a:r>
              <a:rPr lang="en-US" sz="1400">
                <a:solidFill>
                  <a:srgbClr val="FFFFFF"/>
                </a:solidFill>
              </a:rPr>
              <a:t> MySQL </a:t>
            </a:r>
            <a:r>
              <a:rPr lang="en-US" sz="1400" dirty="0">
                <a:solidFill>
                  <a:srgbClr val="FFFFFF"/>
                </a:solidFill>
              </a:rPr>
              <a:t>Query</a:t>
            </a:r>
          </a:p>
          <a:p>
            <a:pPr marL="342900" indent="-228600">
              <a:lnSpc>
                <a:spcPct val="90000"/>
              </a:lnSpc>
              <a:spcAft>
                <a:spcPts val="600"/>
              </a:spcAft>
              <a:buClrTx/>
              <a:buFont typeface="Arial" panose="020B0604020202020204" pitchFamily="34" charset="0"/>
              <a:buChar char="•"/>
            </a:pPr>
            <a:r>
              <a:rPr lang="en-US" sz="1400" dirty="0">
                <a:solidFill>
                  <a:srgbClr val="FFFFFF"/>
                </a:solidFill>
              </a:rPr>
              <a:t>Recommendation</a:t>
            </a:r>
          </a:p>
          <a:p>
            <a:pPr marL="342900" indent="-228600">
              <a:lnSpc>
                <a:spcPct val="90000"/>
              </a:lnSpc>
              <a:spcAft>
                <a:spcPts val="600"/>
              </a:spcAft>
              <a:buFont typeface="Arial" panose="020B0604020202020204" pitchFamily="34" charset="0"/>
              <a:buChar char="•"/>
            </a:pPr>
            <a:r>
              <a:rPr lang="en-US" sz="1400" dirty="0">
                <a:solidFill>
                  <a:srgbClr val="FFFFFF"/>
                </a:solidFill>
              </a:rPr>
              <a:t>Conclusion</a:t>
            </a:r>
          </a:p>
        </p:txBody>
      </p:sp>
    </p:spTree>
    <p:extLst>
      <p:ext uri="{BB962C8B-B14F-4D97-AF65-F5344CB8AC3E}">
        <p14:creationId xmlns:p14="http://schemas.microsoft.com/office/powerpoint/2010/main" val="3731904170"/>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170D38F-60E7-986F-69AB-00C5BE5FD9FD}"/>
              </a:ext>
            </a:extLst>
          </p:cNvPr>
          <p:cNvPicPr>
            <a:picLocks noChangeAspect="1"/>
          </p:cNvPicPr>
          <p:nvPr/>
        </p:nvPicPr>
        <p:blipFill>
          <a:blip r:embed="rId3"/>
          <a:stretch>
            <a:fillRect/>
          </a:stretch>
        </p:blipFill>
        <p:spPr>
          <a:xfrm>
            <a:off x="1" y="0"/>
            <a:ext cx="9144000" cy="5143500"/>
          </a:xfrm>
          <a:prstGeom prst="rect">
            <a:avLst/>
          </a:prstGeom>
        </p:spPr>
      </p:pic>
      <p:pic>
        <p:nvPicPr>
          <p:cNvPr id="8" name="Picture 7">
            <a:extLst>
              <a:ext uri="{FF2B5EF4-FFF2-40B4-BE49-F238E27FC236}">
                <a16:creationId xmlns:a16="http://schemas.microsoft.com/office/drawing/2014/main" id="{54741F24-AF01-7C4E-1BCA-7AFF6AB109D0}"/>
              </a:ext>
            </a:extLst>
          </p:cNvPr>
          <p:cNvPicPr>
            <a:picLocks noChangeAspect="1"/>
          </p:cNvPicPr>
          <p:nvPr/>
        </p:nvPicPr>
        <p:blipFill>
          <a:blip r:embed="rId4"/>
          <a:stretch>
            <a:fillRect/>
          </a:stretch>
        </p:blipFill>
        <p:spPr>
          <a:xfrm>
            <a:off x="-1" y="693"/>
            <a:ext cx="9144000" cy="5142807"/>
          </a:xfrm>
          <a:prstGeom prst="rect">
            <a:avLst/>
          </a:prstGeom>
        </p:spPr>
      </p:pic>
      <p:sp>
        <p:nvSpPr>
          <p:cNvPr id="2" name="Text 0"/>
          <p:cNvSpPr/>
          <p:nvPr/>
        </p:nvSpPr>
        <p:spPr>
          <a:xfrm>
            <a:off x="2713464" y="127867"/>
            <a:ext cx="3538282" cy="640080"/>
          </a:xfrm>
          <a:prstGeom prst="rect">
            <a:avLst/>
          </a:prstGeom>
          <a:noFill/>
          <a:ln/>
        </p:spPr>
        <p:txBody>
          <a:bodyPr wrap="square" lIns="0" tIns="0" rIns="0" bIns="0" rtlCol="0" anchor="ctr"/>
          <a:lstStyle/>
          <a:p>
            <a:pPr algn="ctr">
              <a:lnSpc>
                <a:spcPct val="90000"/>
              </a:lnSpc>
              <a:spcBef>
                <a:spcPct val="0"/>
              </a:spcBef>
              <a:spcAft>
                <a:spcPts val="600"/>
              </a:spcAft>
            </a:pPr>
            <a:r>
              <a:rPr lang="en-US" sz="4000" b="1" dirty="0">
                <a:solidFill>
                  <a:schemeClr val="accent1">
                    <a:lumMod val="75000"/>
                  </a:schemeClr>
                </a:solidFill>
                <a:highlight>
                  <a:srgbClr val="C0C0C0"/>
                </a:highlight>
                <a:latin typeface="Algerian" panose="04020705040A02060702" pitchFamily="82" charset="0"/>
              </a:rPr>
              <a:t>INTRODUCTION</a:t>
            </a:r>
            <a:endParaRPr lang="en-US" sz="4000" dirty="0">
              <a:solidFill>
                <a:schemeClr val="accent1">
                  <a:lumMod val="75000"/>
                </a:schemeClr>
              </a:solidFill>
              <a:highlight>
                <a:srgbClr val="C0C0C0"/>
              </a:highlight>
              <a:latin typeface="Algerian" panose="04020705040A02060702" pitchFamily="82" charset="0"/>
            </a:endParaRPr>
          </a:p>
        </p:txBody>
      </p:sp>
      <p:sp>
        <p:nvSpPr>
          <p:cNvPr id="3" name="Text 1"/>
          <p:cNvSpPr/>
          <p:nvPr/>
        </p:nvSpPr>
        <p:spPr>
          <a:xfrm>
            <a:off x="654949" y="604025"/>
            <a:ext cx="8318066" cy="5211339"/>
          </a:xfrm>
          <a:prstGeom prst="rect">
            <a:avLst/>
          </a:prstGeom>
          <a:noFill/>
          <a:ln/>
        </p:spPr>
        <p:txBody>
          <a:bodyPr wrap="square" lIns="0" tIns="0" rIns="0" bIns="0" rtlCol="0" anchor="ctr"/>
          <a:lstStyle/>
          <a:p>
            <a:pPr marL="285750" indent="-285750">
              <a:lnSpc>
                <a:spcPct val="150000"/>
              </a:lnSpc>
              <a:buFont typeface="Arial" panose="020B0604020202020204" pitchFamily="34" charset="0"/>
              <a:buChar char="•"/>
            </a:pPr>
            <a:r>
              <a:rPr lang="en-US" sz="1400" dirty="0">
                <a:solidFill>
                  <a:schemeClr val="bg1"/>
                </a:solidFill>
                <a:ea typeface="Calibri" pitchFamily="34" charset="-122"/>
                <a:cs typeface="Calibri" pitchFamily="34" charset="-120"/>
              </a:rPr>
              <a:t>High Cloud Airlines is an airline operating a wide network of domestic and international routes. </a:t>
            </a:r>
          </a:p>
          <a:p>
            <a:pPr marL="285750" indent="-285750">
              <a:lnSpc>
                <a:spcPct val="150000"/>
              </a:lnSpc>
              <a:buFont typeface="Arial" panose="020B0604020202020204" pitchFamily="34" charset="0"/>
              <a:buChar char="•"/>
            </a:pPr>
            <a:r>
              <a:rPr lang="en-US" sz="1400" dirty="0">
                <a:solidFill>
                  <a:schemeClr val="bg1"/>
                </a:solidFill>
                <a:ea typeface="Calibri" pitchFamily="34" charset="-122"/>
                <a:cs typeface="Calibri" pitchFamily="34" charset="-120"/>
              </a:rPr>
              <a:t>High Cloud Airlines is committed to delivering reliable service, optimizing load factors, and enhancing the overall travel experience for its passengers. </a:t>
            </a:r>
          </a:p>
          <a:p>
            <a:pPr marL="285750" indent="-285750">
              <a:lnSpc>
                <a:spcPct val="150000"/>
              </a:lnSpc>
              <a:buFont typeface="Arial" panose="020B0604020202020204" pitchFamily="34" charset="0"/>
              <a:buChar char="•"/>
            </a:pPr>
            <a:r>
              <a:rPr lang="en-US" sz="1400" dirty="0">
                <a:solidFill>
                  <a:schemeClr val="bg1"/>
                </a:solidFill>
                <a:ea typeface="Calibri" pitchFamily="34" charset="-122"/>
                <a:cs typeface="Calibri" pitchFamily="34" charset="-120"/>
              </a:rPr>
              <a:t>As part of its growth strategy, the airline continually leverages data-driven insights to improve performance and make informed business decisions.</a:t>
            </a:r>
          </a:p>
          <a:p>
            <a:pPr marL="285750" indent="-285750">
              <a:lnSpc>
                <a:spcPct val="150000"/>
              </a:lnSpc>
              <a:buFont typeface="Arial" panose="020B0604020202020204" pitchFamily="34" charset="0"/>
              <a:buChar char="•"/>
            </a:pPr>
            <a:r>
              <a:rPr lang="en-US" sz="1400" dirty="0">
                <a:solidFill>
                  <a:schemeClr val="bg1"/>
                </a:solidFill>
                <a:cs typeface="Arial" panose="020B0604020202020204" pitchFamily="34" charset="0"/>
              </a:rPr>
              <a:t>High Cloud embraces innovation and modern technology to enhance operational efficiency and stay at the forefront of the aviation landscape.</a:t>
            </a:r>
          </a:p>
          <a:p>
            <a:pPr marL="285750" indent="-285750" fontAlgn="ctr">
              <a:lnSpc>
                <a:spcPct val="150000"/>
              </a:lnSpc>
              <a:spcBef>
                <a:spcPct val="0"/>
              </a:spcBef>
              <a:buFont typeface="Arial" panose="020B0604020202020204" pitchFamily="34" charset="0"/>
              <a:buChar char="•"/>
            </a:pPr>
            <a:r>
              <a:rPr lang="en-US" sz="1400" dirty="0">
                <a:solidFill>
                  <a:schemeClr val="bg1"/>
                </a:solidFill>
                <a:cs typeface="Calibri" panose="020F0502020204030204" pitchFamily="34" charset="0"/>
              </a:rPr>
              <a:t>High Cloud Airlines aims to provide exceptional travel experience while prioritizing sustainability and innovation.</a:t>
            </a:r>
          </a:p>
          <a:p>
            <a:pPr marL="285750" indent="-285750" fontAlgn="ctr">
              <a:lnSpc>
                <a:spcPct val="150000"/>
              </a:lnSpc>
              <a:spcBef>
                <a:spcPct val="0"/>
              </a:spcBef>
              <a:buFont typeface="Arial" panose="020B0604020202020204" pitchFamily="34" charset="0"/>
              <a:buChar char="•"/>
            </a:pPr>
            <a:r>
              <a:rPr lang="en-US" sz="1400" dirty="0">
                <a:solidFill>
                  <a:schemeClr val="bg1"/>
                </a:solidFill>
                <a:cs typeface="Calibri" panose="020F0502020204030204" pitchFamily="34" charset="0"/>
              </a:rPr>
              <a:t>Customer satisfaction by offering personalized services, including flexible booking options.</a:t>
            </a:r>
          </a:p>
          <a:p>
            <a:pPr marL="285750" indent="-285750" fontAlgn="ctr">
              <a:lnSpc>
                <a:spcPct val="150000"/>
              </a:lnSpc>
              <a:spcBef>
                <a:spcPct val="0"/>
              </a:spcBef>
              <a:buFont typeface="Arial" panose="020B0604020202020204" pitchFamily="34" charset="0"/>
              <a:buChar char="•"/>
            </a:pPr>
            <a:r>
              <a:rPr lang="en-US" sz="1400" dirty="0">
                <a:solidFill>
                  <a:schemeClr val="bg1"/>
                </a:solidFill>
                <a:cs typeface="Calibri" panose="020F0502020204030204" pitchFamily="34" charset="0"/>
              </a:rPr>
              <a:t>Committed to providing a safe and secure environment for our passengers .</a:t>
            </a:r>
          </a:p>
          <a:p>
            <a:pPr marL="285750" indent="-285750" fontAlgn="ctr">
              <a:lnSpc>
                <a:spcPct val="150000"/>
              </a:lnSpc>
              <a:spcBef>
                <a:spcPct val="0"/>
              </a:spcBef>
              <a:buFont typeface="Arial" panose="020B0604020202020204" pitchFamily="34" charset="0"/>
              <a:buChar char="•"/>
            </a:pPr>
            <a:r>
              <a:rPr lang="en-US" sz="1400" dirty="0">
                <a:solidFill>
                  <a:schemeClr val="bg1"/>
                </a:solidFill>
                <a:cs typeface="Calibri" panose="020F0502020204030204" pitchFamily="34" charset="0"/>
              </a:rPr>
              <a:t>Offer a wide range of domestic and international routes, connecting major cities and popular travel destinations.</a:t>
            </a:r>
          </a:p>
          <a:p>
            <a:endParaRPr lang="en-US" sz="1400" dirty="0">
              <a:solidFill>
                <a:schemeClr val="bg1"/>
              </a:solidFill>
              <a:cs typeface="Arial" panose="020B0604020202020204" pitchFamily="34" charset="0"/>
            </a:endParaRPr>
          </a:p>
          <a:p>
            <a:endParaRPr lang="en-US" sz="1400" dirty="0">
              <a:solidFill>
                <a:schemeClr val="bg1"/>
              </a:solidFill>
              <a:ea typeface="Calibri" pitchFamily="34" charset="-122"/>
              <a:cs typeface="Calibri" pitchFamily="34" charset="-120"/>
            </a:endParaRPr>
          </a:p>
          <a:p>
            <a:endParaRPr lang="en-US" sz="140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72088" cy="51435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9" name="TextBox 8">
            <a:extLst>
              <a:ext uri="{FF2B5EF4-FFF2-40B4-BE49-F238E27FC236}">
                <a16:creationId xmlns:a16="http://schemas.microsoft.com/office/drawing/2014/main" id="{FAF12B53-4790-E74C-21F4-3789E2AFD366}"/>
              </a:ext>
            </a:extLst>
          </p:cNvPr>
          <p:cNvSpPr txBox="1"/>
          <p:nvPr/>
        </p:nvSpPr>
        <p:spPr>
          <a:xfrm>
            <a:off x="628650" y="482600"/>
            <a:ext cx="2916395" cy="1350394"/>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000" b="1" kern="1200" dirty="0">
                <a:solidFill>
                  <a:schemeClr val="accent1">
                    <a:lumMod val="75000"/>
                  </a:schemeClr>
                </a:solidFill>
                <a:highlight>
                  <a:srgbClr val="C0C0C0"/>
                </a:highlight>
                <a:latin typeface="Algerian" panose="04020705040A02060702" pitchFamily="82" charset="0"/>
                <a:ea typeface="+mj-ea"/>
                <a:cs typeface="+mj-cs"/>
              </a:rPr>
              <a:t>OBJECTIVE</a:t>
            </a:r>
            <a:endParaRPr lang="en-US" sz="4000" kern="1200" dirty="0">
              <a:solidFill>
                <a:schemeClr val="accent1">
                  <a:lumMod val="75000"/>
                </a:schemeClr>
              </a:solidFill>
              <a:latin typeface="Algerian" panose="04020705040A02060702" pitchFamily="82" charset="0"/>
              <a:ea typeface="+mj-ea"/>
              <a:cs typeface="+mj-cs"/>
            </a:endParaRPr>
          </a:p>
        </p:txBody>
      </p:sp>
      <p:sp>
        <p:nvSpPr>
          <p:cNvPr id="3" name="Text 1"/>
          <p:cNvSpPr/>
          <p:nvPr/>
        </p:nvSpPr>
        <p:spPr>
          <a:xfrm>
            <a:off x="491079" y="1725711"/>
            <a:ext cx="3538228" cy="3203128"/>
          </a:xfrm>
          <a:prstGeom prst="rect">
            <a:avLst/>
          </a:prstGeom>
        </p:spPr>
        <p:txBody>
          <a:bodyPr vert="horz" lIns="91440" tIns="45720" rIns="91440" bIns="45720" rtlCol="0">
            <a:noAutofit/>
          </a:bodyPr>
          <a:lstStyle/>
          <a:p>
            <a:pPr lvl="0" indent="-228600" fontAlgn="base">
              <a:spcBef>
                <a:spcPct val="0"/>
              </a:spcBef>
              <a:spcAft>
                <a:spcPts val="600"/>
              </a:spcAft>
              <a:buFont typeface="Arial" panose="020B0604020202020204" pitchFamily="34" charset="0"/>
              <a:buChar char="•"/>
            </a:pPr>
            <a:r>
              <a:rPr lang="en-US" altLang="en-US" sz="1400" dirty="0"/>
              <a:t>To gain a comprehensive understanding of “High Cloud Airlines”  operations through data analysis. This will involve investigating load factors, identifying top carrier names based on passenger preference, analyzing popular routes, and exploring other key metrics. </a:t>
            </a:r>
          </a:p>
          <a:p>
            <a:pPr lvl="0" indent="-228600" fontAlgn="base">
              <a:spcBef>
                <a:spcPct val="0"/>
              </a:spcBef>
              <a:spcAft>
                <a:spcPts val="600"/>
              </a:spcAft>
              <a:buFont typeface="Arial" panose="020B0604020202020204" pitchFamily="34" charset="0"/>
              <a:buChar char="•"/>
            </a:pPr>
            <a:r>
              <a:rPr lang="en-US" altLang="en-US" sz="1400" dirty="0"/>
              <a:t>Additionally</a:t>
            </a:r>
            <a:r>
              <a:rPr lang="en-US" altLang="en-US" sz="1400"/>
              <a:t>, the </a:t>
            </a:r>
            <a:r>
              <a:rPr lang="en-US" altLang="en-US" sz="1400" dirty="0"/>
              <a:t>project focuses on boosting operational efficiency by Optimizing flight operation, reducing delays, and improving on-time performance. The ultimate goal is to provide actionable recommendations that can enhance operational efficiency and profitability.</a:t>
            </a:r>
          </a:p>
        </p:txBody>
      </p:sp>
      <p:pic>
        <p:nvPicPr>
          <p:cNvPr id="11" name="Picture 10">
            <a:extLst>
              <a:ext uri="{FF2B5EF4-FFF2-40B4-BE49-F238E27FC236}">
                <a16:creationId xmlns:a16="http://schemas.microsoft.com/office/drawing/2014/main" id="{C4019491-6999-A61B-1CB4-635673F7F171}"/>
              </a:ext>
            </a:extLst>
          </p:cNvPr>
          <p:cNvPicPr>
            <a:picLocks noChangeAspect="1"/>
          </p:cNvPicPr>
          <p:nvPr/>
        </p:nvPicPr>
        <p:blipFill>
          <a:blip r:embed="rId3"/>
          <a:srcRect b="7262"/>
          <a:stretch>
            <a:fillRect/>
          </a:stretch>
        </p:blipFill>
        <p:spPr>
          <a:xfrm>
            <a:off x="5379602" y="482425"/>
            <a:ext cx="3002933" cy="419990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365759"/>
            <a:ext cx="9144000" cy="548641"/>
          </a:xfrm>
          <a:prstGeom prst="rect">
            <a:avLst/>
          </a:prstGeom>
          <a:noFill/>
          <a:ln/>
        </p:spPr>
        <p:txBody>
          <a:bodyPr wrap="square" lIns="0" tIns="0" rIns="0" bIns="0" rtlCol="0" anchor="ctr"/>
          <a:lstStyle/>
          <a:p>
            <a:pPr algn="ctr"/>
            <a:r>
              <a:rPr lang="en-US" sz="4000" b="1" dirty="0">
                <a:solidFill>
                  <a:schemeClr val="accent1">
                    <a:lumMod val="75000"/>
                  </a:schemeClr>
                </a:solidFill>
                <a:highlight>
                  <a:srgbClr val="C0C0C0"/>
                </a:highlight>
                <a:latin typeface="Algerian" panose="04020705040A02060702" pitchFamily="82" charset="0"/>
                <a:cs typeface="Arial" panose="020B0604020202020204" pitchFamily="34" charset="0"/>
              </a:rPr>
              <a:t>Business Overview</a:t>
            </a:r>
            <a:endParaRPr lang="en-US" sz="4000" b="1" dirty="0">
              <a:solidFill>
                <a:schemeClr val="accent1">
                  <a:lumMod val="75000"/>
                </a:schemeClr>
              </a:solidFill>
              <a:highlight>
                <a:srgbClr val="C0C0C0"/>
              </a:highlight>
              <a:latin typeface="Algerian" panose="04020705040A02060702" pitchFamily="82" charset="0"/>
            </a:endParaRPr>
          </a:p>
        </p:txBody>
      </p:sp>
      <p:sp>
        <p:nvSpPr>
          <p:cNvPr id="3" name="Text 1"/>
          <p:cNvSpPr/>
          <p:nvPr/>
        </p:nvSpPr>
        <p:spPr>
          <a:xfrm>
            <a:off x="0" y="773151"/>
            <a:ext cx="9144000" cy="2861590"/>
          </a:xfrm>
          <a:prstGeom prst="rect">
            <a:avLst/>
          </a:prstGeom>
          <a:noFill/>
          <a:ln/>
        </p:spPr>
        <p:txBody>
          <a:bodyPr wrap="square" lIns="0" tIns="0" rIns="0" bIns="0" rtlCol="0" anchor="ctr"/>
          <a:lstStyle/>
          <a:p>
            <a:pPr marL="2936875" marR="1132840">
              <a:spcBef>
                <a:spcPts val="6005"/>
              </a:spcBef>
            </a:pPr>
            <a:endParaRPr lang="en-US" sz="1400" dirty="0">
              <a:latin typeface="Arial" panose="020B0604020202020204" pitchFamily="34" charset="0"/>
              <a:ea typeface="Cambria" panose="02040503050406030204" pitchFamily="18" charset="0"/>
              <a:cs typeface="Arial" panose="020B0604020202020204" pitchFamily="34" charset="0"/>
            </a:endParaRPr>
          </a:p>
        </p:txBody>
      </p:sp>
      <p:pic>
        <p:nvPicPr>
          <p:cNvPr id="7" name="Picture 6">
            <a:extLst>
              <a:ext uri="{FF2B5EF4-FFF2-40B4-BE49-F238E27FC236}">
                <a16:creationId xmlns:a16="http://schemas.microsoft.com/office/drawing/2014/main" id="{476E42FA-82CF-3666-40E0-2D770B2D8528}"/>
              </a:ext>
            </a:extLst>
          </p:cNvPr>
          <p:cNvPicPr>
            <a:picLocks noChangeAspect="1"/>
          </p:cNvPicPr>
          <p:nvPr/>
        </p:nvPicPr>
        <p:blipFill>
          <a:blip r:embed="rId3"/>
          <a:stretch>
            <a:fillRect/>
          </a:stretch>
        </p:blipFill>
        <p:spPr>
          <a:xfrm>
            <a:off x="5136994" y="1651794"/>
            <a:ext cx="4007006" cy="3491706"/>
          </a:xfrm>
          <a:prstGeom prst="rect">
            <a:avLst/>
          </a:prstGeom>
        </p:spPr>
      </p:pic>
      <p:sp>
        <p:nvSpPr>
          <p:cNvPr id="5" name="TextBox 4">
            <a:extLst>
              <a:ext uri="{FF2B5EF4-FFF2-40B4-BE49-F238E27FC236}">
                <a16:creationId xmlns:a16="http://schemas.microsoft.com/office/drawing/2014/main" id="{DDAF2578-DB9B-7788-40AF-E8C22458E835}"/>
              </a:ext>
            </a:extLst>
          </p:cNvPr>
          <p:cNvSpPr txBox="1"/>
          <p:nvPr/>
        </p:nvSpPr>
        <p:spPr>
          <a:xfrm>
            <a:off x="646770" y="1055649"/>
            <a:ext cx="4698381" cy="3970318"/>
          </a:xfrm>
          <a:prstGeom prst="rect">
            <a:avLst/>
          </a:prstGeom>
          <a:noFill/>
        </p:spPr>
        <p:txBody>
          <a:bodyPr wrap="square" rtlCol="0">
            <a:spAutoFit/>
          </a:bodyPr>
          <a:lstStyle/>
          <a:p>
            <a:pPr>
              <a:lnSpc>
                <a:spcPct val="150000"/>
              </a:lnSpc>
            </a:pPr>
            <a:r>
              <a:rPr lang="en-US" sz="1600" dirty="0">
                <a:ea typeface="Cambria" panose="02040503050406030204" pitchFamily="18" charset="0"/>
                <a:cs typeface="Arial" panose="020B0604020202020204" pitchFamily="34" charset="0"/>
              </a:rPr>
              <a:t>In today’s competitive airline industry, data analysis plays a critical role in optimizing operations and maximizing profitability. By harnessing the power of data, High Cloud Airlines can gain valuable insights into various aspects of its business, allowing them to make data-driven decisions that can lead to</a:t>
            </a:r>
          </a:p>
          <a:p>
            <a:pPr marL="285750" indent="-285750">
              <a:lnSpc>
                <a:spcPct val="150000"/>
              </a:lnSpc>
              <a:buFont typeface="Arial" panose="020B0604020202020204" pitchFamily="34" charset="0"/>
              <a:buChar char="•"/>
            </a:pPr>
            <a:r>
              <a:rPr lang="en-US" sz="1600" dirty="0">
                <a:ea typeface="Cambria" panose="02040503050406030204" pitchFamily="18" charset="0"/>
                <a:cs typeface="Arial" panose="020B0604020202020204" pitchFamily="34" charset="0"/>
              </a:rPr>
              <a:t>Improved</a:t>
            </a:r>
            <a:r>
              <a:rPr lang="en-US" sz="1600" spc="-120" dirty="0">
                <a:ea typeface="Cambria" panose="02040503050406030204" pitchFamily="18" charset="0"/>
                <a:cs typeface="Arial" panose="020B0604020202020204" pitchFamily="34" charset="0"/>
              </a:rPr>
              <a:t> </a:t>
            </a:r>
            <a:r>
              <a:rPr lang="en-US" sz="1600" dirty="0">
                <a:ea typeface="Cambria" panose="02040503050406030204" pitchFamily="18" charset="0"/>
                <a:cs typeface="Arial" panose="020B0604020202020204" pitchFamily="34" charset="0"/>
              </a:rPr>
              <a:t>load</a:t>
            </a:r>
            <a:r>
              <a:rPr lang="en-US" sz="1600" spc="-115" dirty="0">
                <a:ea typeface="Cambria" panose="02040503050406030204" pitchFamily="18" charset="0"/>
                <a:cs typeface="Arial" panose="020B0604020202020204" pitchFamily="34" charset="0"/>
              </a:rPr>
              <a:t> </a:t>
            </a:r>
            <a:r>
              <a:rPr lang="en-US" sz="1600" spc="-10" dirty="0">
                <a:ea typeface="Cambria" panose="02040503050406030204" pitchFamily="18" charset="0"/>
                <a:cs typeface="Arial" panose="020B0604020202020204" pitchFamily="34" charset="0"/>
              </a:rPr>
              <a:t>factor</a:t>
            </a:r>
            <a:endParaRPr lang="en-US" sz="1600" dirty="0">
              <a:ea typeface="Cambria" panose="02040503050406030204" pitchFamily="18" charset="0"/>
              <a:cs typeface="Arial" panose="020B0604020202020204" pitchFamily="34" charset="0"/>
            </a:endParaRPr>
          </a:p>
          <a:p>
            <a:pPr marL="285750" indent="-285750">
              <a:lnSpc>
                <a:spcPct val="150000"/>
              </a:lnSpc>
              <a:buFont typeface="Arial" panose="020B0604020202020204" pitchFamily="34" charset="0"/>
              <a:buChar char="•"/>
            </a:pPr>
            <a:r>
              <a:rPr lang="en-US" sz="1600" dirty="0">
                <a:ea typeface="Cambria" panose="02040503050406030204" pitchFamily="18" charset="0"/>
                <a:cs typeface="Arial" panose="020B0604020202020204" pitchFamily="34" charset="0"/>
              </a:rPr>
              <a:t>Enhance Passenger Experience Optimized resource allocation Data- Driven Decision Making</a:t>
            </a:r>
          </a:p>
          <a:p>
            <a:endParaRPr lang="en-US" dirty="0">
              <a:latin typeface="Arial" panose="020B0604020202020204" pitchFamily="34" charset="0"/>
              <a:ea typeface="Cambria" panose="02040503050406030204" pitchFamily="18" charset="0"/>
              <a:cs typeface="Arial" panose="020B0604020202020204" pitchFamily="34" charset="0"/>
            </a:endParaRP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8F0"/>
        </a:solidFill>
        <a:effectLst/>
      </p:bgPr>
    </p:bg>
    <p:spTree>
      <p:nvGrpSpPr>
        <p:cNvPr id="1" name=""/>
        <p:cNvGrpSpPr/>
        <p:nvPr/>
      </p:nvGrpSpPr>
      <p:grpSpPr>
        <a:xfrm>
          <a:off x="0" y="0"/>
          <a:ext cx="0" cy="0"/>
          <a:chOff x="0" y="0"/>
          <a:chExt cx="0" cy="0"/>
        </a:xfrm>
      </p:grpSpPr>
      <p:sp>
        <p:nvSpPr>
          <p:cNvPr id="2" name="Text 0"/>
          <p:cNvSpPr/>
          <p:nvPr/>
        </p:nvSpPr>
        <p:spPr>
          <a:xfrm>
            <a:off x="0" y="385832"/>
            <a:ext cx="9144000" cy="640080"/>
          </a:xfrm>
          <a:prstGeom prst="rect">
            <a:avLst/>
          </a:prstGeom>
          <a:noFill/>
          <a:ln/>
        </p:spPr>
        <p:txBody>
          <a:bodyPr wrap="square" lIns="0" tIns="0" rIns="0" bIns="0" rtlCol="0" anchor="ctr"/>
          <a:lstStyle/>
          <a:p>
            <a:pPr algn="ctr"/>
            <a:r>
              <a:rPr lang="en-US" sz="4000" b="1" dirty="0">
                <a:solidFill>
                  <a:schemeClr val="accent1">
                    <a:lumMod val="75000"/>
                  </a:schemeClr>
                </a:solidFill>
                <a:highlight>
                  <a:srgbClr val="C0C0C0"/>
                </a:highlight>
                <a:latin typeface="Algerian" panose="04020705040A02060702" pitchFamily="82" charset="0"/>
                <a:cs typeface="Arial" panose="020B0604020202020204" pitchFamily="34" charset="0"/>
              </a:rPr>
              <a:t>Data Model challenges</a:t>
            </a:r>
            <a:endParaRPr lang="en-US" sz="4000" b="1" dirty="0">
              <a:solidFill>
                <a:schemeClr val="accent1">
                  <a:lumMod val="75000"/>
                </a:schemeClr>
              </a:solidFill>
              <a:highlight>
                <a:srgbClr val="C0C0C0"/>
              </a:highlight>
              <a:latin typeface="Algerian" panose="04020705040A02060702" pitchFamily="82" charset="0"/>
            </a:endParaRPr>
          </a:p>
        </p:txBody>
      </p:sp>
      <p:sp>
        <p:nvSpPr>
          <p:cNvPr id="5" name="Text 3"/>
          <p:cNvSpPr/>
          <p:nvPr/>
        </p:nvSpPr>
        <p:spPr>
          <a:xfrm>
            <a:off x="822960" y="1463040"/>
            <a:ext cx="36576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Route</a:t>
            </a:r>
            <a:endParaRPr lang="en-US" sz="1200" dirty="0"/>
          </a:p>
        </p:txBody>
      </p:sp>
      <p:pic>
        <p:nvPicPr>
          <p:cNvPr id="35" name="Picture 34">
            <a:extLst>
              <a:ext uri="{FF2B5EF4-FFF2-40B4-BE49-F238E27FC236}">
                <a16:creationId xmlns:a16="http://schemas.microsoft.com/office/drawing/2014/main" id="{D9F25234-1BC9-9E27-963B-23B77EEE2595}"/>
              </a:ext>
            </a:extLst>
          </p:cNvPr>
          <p:cNvPicPr>
            <a:picLocks noChangeAspect="1"/>
          </p:cNvPicPr>
          <p:nvPr/>
        </p:nvPicPr>
        <p:blipFill>
          <a:blip r:embed="rId3"/>
          <a:stretch>
            <a:fillRect/>
          </a:stretch>
        </p:blipFill>
        <p:spPr>
          <a:xfrm>
            <a:off x="936702" y="2958790"/>
            <a:ext cx="7263161" cy="2184709"/>
          </a:xfrm>
          <a:prstGeom prst="rect">
            <a:avLst/>
          </a:prstGeom>
        </p:spPr>
      </p:pic>
      <p:sp>
        <p:nvSpPr>
          <p:cNvPr id="33" name="TextBox 32">
            <a:extLst>
              <a:ext uri="{FF2B5EF4-FFF2-40B4-BE49-F238E27FC236}">
                <a16:creationId xmlns:a16="http://schemas.microsoft.com/office/drawing/2014/main" id="{688B5BB2-4B5A-9F10-89AC-E459CE308D0E}"/>
              </a:ext>
            </a:extLst>
          </p:cNvPr>
          <p:cNvSpPr txBox="1"/>
          <p:nvPr/>
        </p:nvSpPr>
        <p:spPr>
          <a:xfrm>
            <a:off x="629672" y="1253497"/>
            <a:ext cx="8112884" cy="2062103"/>
          </a:xfrm>
          <a:prstGeom prst="rect">
            <a:avLst/>
          </a:prstGeom>
          <a:noFill/>
        </p:spPr>
        <p:txBody>
          <a:bodyPr wrap="square" rtlCol="0">
            <a:spAutoFit/>
          </a:bodyPr>
          <a:lstStyle/>
          <a:p>
            <a:r>
              <a:rPr lang="en-US" sz="1600" dirty="0">
                <a:ea typeface="Cambria" panose="02040503050406030204" pitchFamily="18" charset="0"/>
                <a:cs typeface="Arial" panose="020B0604020202020204" pitchFamily="34" charset="0"/>
              </a:rPr>
              <a:t>Throughout</a:t>
            </a:r>
            <a:r>
              <a:rPr lang="en-US" sz="1600" spc="-165" dirty="0">
                <a:ea typeface="Cambria" panose="02040503050406030204" pitchFamily="18" charset="0"/>
                <a:cs typeface="Arial" panose="020B0604020202020204" pitchFamily="34" charset="0"/>
              </a:rPr>
              <a:t> </a:t>
            </a:r>
            <a:r>
              <a:rPr lang="en-US" sz="1600" dirty="0">
                <a:ea typeface="Cambria" panose="02040503050406030204" pitchFamily="18" charset="0"/>
                <a:cs typeface="Arial" panose="020B0604020202020204" pitchFamily="34" charset="0"/>
              </a:rPr>
              <a:t>our</a:t>
            </a:r>
            <a:r>
              <a:rPr lang="en-US" sz="1600" spc="-165" dirty="0">
                <a:ea typeface="Cambria" panose="02040503050406030204" pitchFamily="18" charset="0"/>
                <a:cs typeface="Arial" panose="020B0604020202020204" pitchFamily="34" charset="0"/>
              </a:rPr>
              <a:t> </a:t>
            </a:r>
            <a:r>
              <a:rPr lang="en-US" sz="1600" dirty="0">
                <a:ea typeface="Cambria" panose="02040503050406030204" pitchFamily="18" charset="0"/>
                <a:cs typeface="Arial" panose="020B0604020202020204" pitchFamily="34" charset="0"/>
              </a:rPr>
              <a:t>analysis,</a:t>
            </a:r>
            <a:r>
              <a:rPr lang="en-US" sz="1600" spc="-165" dirty="0">
                <a:ea typeface="Cambria" panose="02040503050406030204" pitchFamily="18" charset="0"/>
                <a:cs typeface="Arial" panose="020B0604020202020204" pitchFamily="34" charset="0"/>
              </a:rPr>
              <a:t> </a:t>
            </a:r>
            <a:r>
              <a:rPr lang="en-US" sz="1600" dirty="0">
                <a:ea typeface="Cambria" panose="02040503050406030204" pitchFamily="18" charset="0"/>
                <a:cs typeface="Arial" panose="020B0604020202020204" pitchFamily="34" charset="0"/>
              </a:rPr>
              <a:t>we</a:t>
            </a:r>
            <a:r>
              <a:rPr lang="en-US" sz="1600" spc="-165" dirty="0">
                <a:ea typeface="Cambria" panose="02040503050406030204" pitchFamily="18" charset="0"/>
                <a:cs typeface="Arial" panose="020B0604020202020204" pitchFamily="34" charset="0"/>
              </a:rPr>
              <a:t> </a:t>
            </a:r>
            <a:r>
              <a:rPr lang="en-US" sz="1600" dirty="0">
                <a:ea typeface="Cambria" panose="02040503050406030204" pitchFamily="18" charset="0"/>
                <a:cs typeface="Arial" panose="020B0604020202020204" pitchFamily="34" charset="0"/>
              </a:rPr>
              <a:t>encountered</a:t>
            </a:r>
            <a:r>
              <a:rPr lang="en-US" sz="1600" spc="-165" dirty="0">
                <a:ea typeface="Cambria" panose="02040503050406030204" pitchFamily="18" charset="0"/>
                <a:cs typeface="Arial" panose="020B0604020202020204" pitchFamily="34" charset="0"/>
              </a:rPr>
              <a:t> </a:t>
            </a:r>
            <a:r>
              <a:rPr lang="en-US" sz="1600" dirty="0">
                <a:ea typeface="Cambria" panose="02040503050406030204" pitchFamily="18" charset="0"/>
                <a:cs typeface="Arial" panose="020B0604020202020204" pitchFamily="34" charset="0"/>
              </a:rPr>
              <a:t>various challenges in handling the data. Overcoming these</a:t>
            </a:r>
            <a:r>
              <a:rPr lang="en-US" sz="1600" spc="-10" dirty="0">
                <a:ea typeface="Cambria" panose="02040503050406030204" pitchFamily="18" charset="0"/>
                <a:cs typeface="Arial" panose="020B0604020202020204" pitchFamily="34" charset="0"/>
              </a:rPr>
              <a:t> </a:t>
            </a:r>
            <a:r>
              <a:rPr lang="en-US" sz="1600" dirty="0">
                <a:ea typeface="Cambria" panose="02040503050406030204" pitchFamily="18" charset="0"/>
                <a:cs typeface="Arial" panose="020B0604020202020204" pitchFamily="34" charset="0"/>
              </a:rPr>
              <a:t>challenges</a:t>
            </a:r>
            <a:r>
              <a:rPr lang="en-US" sz="1600" spc="-10" dirty="0">
                <a:ea typeface="Cambria" panose="02040503050406030204" pitchFamily="18" charset="0"/>
                <a:cs typeface="Arial" panose="020B0604020202020204" pitchFamily="34" charset="0"/>
              </a:rPr>
              <a:t> </a:t>
            </a:r>
            <a:r>
              <a:rPr lang="en-US" sz="1600" dirty="0">
                <a:ea typeface="Cambria" panose="02040503050406030204" pitchFamily="18" charset="0"/>
                <a:cs typeface="Arial" panose="020B0604020202020204" pitchFamily="34" charset="0"/>
              </a:rPr>
              <a:t>is</a:t>
            </a:r>
            <a:r>
              <a:rPr lang="en-US" sz="1600" spc="-10" dirty="0">
                <a:ea typeface="Cambria" panose="02040503050406030204" pitchFamily="18" charset="0"/>
                <a:cs typeface="Arial" panose="020B0604020202020204" pitchFamily="34" charset="0"/>
              </a:rPr>
              <a:t> </a:t>
            </a:r>
            <a:r>
              <a:rPr lang="en-US" sz="1600" dirty="0">
                <a:ea typeface="Cambria" panose="02040503050406030204" pitchFamily="18" charset="0"/>
                <a:cs typeface="Arial" panose="020B0604020202020204" pitchFamily="34" charset="0"/>
              </a:rPr>
              <a:t>crucial</a:t>
            </a:r>
            <a:r>
              <a:rPr lang="en-US" sz="1600" spc="-10" dirty="0">
                <a:ea typeface="Cambria" panose="02040503050406030204" pitchFamily="18" charset="0"/>
                <a:cs typeface="Arial" panose="020B0604020202020204" pitchFamily="34" charset="0"/>
              </a:rPr>
              <a:t> </a:t>
            </a:r>
            <a:r>
              <a:rPr lang="en-US" sz="1600" dirty="0">
                <a:ea typeface="Cambria" panose="02040503050406030204" pitchFamily="18" charset="0"/>
                <a:cs typeface="Arial" panose="020B0604020202020204" pitchFamily="34" charset="0"/>
              </a:rPr>
              <a:t>for</a:t>
            </a:r>
            <a:r>
              <a:rPr lang="en-US" sz="1600" spc="-10" dirty="0">
                <a:ea typeface="Cambria" panose="02040503050406030204" pitchFamily="18" charset="0"/>
                <a:cs typeface="Arial" panose="020B0604020202020204" pitchFamily="34" charset="0"/>
              </a:rPr>
              <a:t> </a:t>
            </a:r>
            <a:r>
              <a:rPr lang="en-US" sz="1600" dirty="0">
                <a:ea typeface="Cambria" panose="02040503050406030204" pitchFamily="18" charset="0"/>
                <a:cs typeface="Arial" panose="020B0604020202020204" pitchFamily="34" charset="0"/>
              </a:rPr>
              <a:t>accurate</a:t>
            </a:r>
            <a:r>
              <a:rPr lang="en-US" sz="1600" spc="-10" dirty="0">
                <a:ea typeface="Cambria" panose="02040503050406030204" pitchFamily="18" charset="0"/>
                <a:cs typeface="Arial" panose="020B0604020202020204" pitchFamily="34" charset="0"/>
              </a:rPr>
              <a:t> </a:t>
            </a:r>
            <a:r>
              <a:rPr lang="en-US" sz="1600" dirty="0">
                <a:ea typeface="Cambria" panose="02040503050406030204" pitchFamily="18" charset="0"/>
                <a:cs typeface="Arial" panose="020B0604020202020204" pitchFamily="34" charset="0"/>
              </a:rPr>
              <a:t>insights.</a:t>
            </a:r>
          </a:p>
          <a:p>
            <a:pPr marL="285750" indent="-285750">
              <a:buFont typeface="Arial" panose="020B0604020202020204" pitchFamily="34" charset="0"/>
              <a:buChar char="•"/>
            </a:pPr>
            <a:r>
              <a:rPr lang="en-US" sz="1600" b="1" dirty="0">
                <a:ea typeface="Cambria" panose="02040503050406030204" pitchFamily="18" charset="0"/>
                <a:cs typeface="Arial" panose="020B0604020202020204" pitchFamily="34" charset="0"/>
              </a:rPr>
              <a:t>Data</a:t>
            </a:r>
            <a:r>
              <a:rPr lang="en-US" sz="1600" b="1" spc="-190" dirty="0">
                <a:ea typeface="Cambria" panose="02040503050406030204" pitchFamily="18" charset="0"/>
                <a:cs typeface="Arial" panose="020B0604020202020204" pitchFamily="34" charset="0"/>
              </a:rPr>
              <a:t> </a:t>
            </a:r>
            <a:r>
              <a:rPr lang="en-US" sz="1600" b="1" dirty="0">
                <a:ea typeface="Cambria" panose="02040503050406030204" pitchFamily="18" charset="0"/>
                <a:cs typeface="Arial" panose="020B0604020202020204" pitchFamily="34" charset="0"/>
              </a:rPr>
              <a:t>Volume:</a:t>
            </a:r>
            <a:r>
              <a:rPr lang="en-US" sz="1600" b="1" spc="-180" dirty="0">
                <a:ea typeface="Cambria" panose="02040503050406030204" pitchFamily="18" charset="0"/>
                <a:cs typeface="Arial" panose="020B0604020202020204" pitchFamily="34" charset="0"/>
              </a:rPr>
              <a:t> </a:t>
            </a:r>
            <a:r>
              <a:rPr lang="en-US" sz="1600" dirty="0">
                <a:ea typeface="Cambria" panose="02040503050406030204" pitchFamily="18" charset="0"/>
                <a:cs typeface="Arial" panose="020B0604020202020204" pitchFamily="34" charset="0"/>
              </a:rPr>
              <a:t>Managing</a:t>
            </a:r>
            <a:r>
              <a:rPr lang="en-US" sz="1600" spc="-180" dirty="0">
                <a:ea typeface="Cambria" panose="02040503050406030204" pitchFamily="18" charset="0"/>
                <a:cs typeface="Arial" panose="020B0604020202020204" pitchFamily="34" charset="0"/>
              </a:rPr>
              <a:t> </a:t>
            </a:r>
            <a:r>
              <a:rPr lang="en-US" sz="1600" dirty="0">
                <a:ea typeface="Cambria" panose="02040503050406030204" pitchFamily="18" charset="0"/>
                <a:cs typeface="Arial" panose="020B0604020202020204" pitchFamily="34" charset="0"/>
              </a:rPr>
              <a:t>and</a:t>
            </a:r>
            <a:r>
              <a:rPr lang="en-US" sz="1600" spc="-180" dirty="0">
                <a:ea typeface="Cambria" panose="02040503050406030204" pitchFamily="18" charset="0"/>
                <a:cs typeface="Arial" panose="020B0604020202020204" pitchFamily="34" charset="0"/>
              </a:rPr>
              <a:t> </a:t>
            </a:r>
            <a:r>
              <a:rPr lang="en-US" sz="1600" dirty="0">
                <a:ea typeface="Cambria" panose="02040503050406030204" pitchFamily="18" charset="0"/>
                <a:cs typeface="Arial" panose="020B0604020202020204" pitchFamily="34" charset="0"/>
              </a:rPr>
              <a:t>Processing</a:t>
            </a:r>
            <a:r>
              <a:rPr lang="en-US" sz="1600" spc="-180" dirty="0">
                <a:ea typeface="Cambria" panose="02040503050406030204" pitchFamily="18" charset="0"/>
                <a:cs typeface="Arial" panose="020B0604020202020204" pitchFamily="34" charset="0"/>
              </a:rPr>
              <a:t> </a:t>
            </a:r>
            <a:r>
              <a:rPr lang="en-US" sz="1600" spc="-20" dirty="0">
                <a:ea typeface="Cambria" panose="02040503050406030204" pitchFamily="18" charset="0"/>
                <a:cs typeface="Arial" panose="020B0604020202020204" pitchFamily="34" charset="0"/>
              </a:rPr>
              <a:t>large </a:t>
            </a:r>
            <a:r>
              <a:rPr lang="en-US" sz="1600" dirty="0">
                <a:ea typeface="Cambria" panose="02040503050406030204" pitchFamily="18" charset="0"/>
                <a:cs typeface="Arial" panose="020B0604020202020204" pitchFamily="34" charset="0"/>
              </a:rPr>
              <a:t>datasets</a:t>
            </a:r>
            <a:r>
              <a:rPr lang="en-US" sz="1600" spc="-230" dirty="0">
                <a:ea typeface="Cambria" panose="02040503050406030204" pitchFamily="18" charset="0"/>
                <a:cs typeface="Arial" panose="020B0604020202020204" pitchFamily="34" charset="0"/>
              </a:rPr>
              <a:t> </a:t>
            </a:r>
            <a:r>
              <a:rPr lang="en-US" sz="1600" spc="-10" dirty="0">
                <a:ea typeface="Cambria" panose="02040503050406030204" pitchFamily="18" charset="0"/>
                <a:cs typeface="Arial" panose="020B0604020202020204" pitchFamily="34" charset="0"/>
              </a:rPr>
              <a:t>efficiently.</a:t>
            </a:r>
            <a:endParaRPr lang="en-US" sz="1600" dirty="0">
              <a:ea typeface="Cambria" panose="02040503050406030204" pitchFamily="18" charset="0"/>
              <a:cs typeface="Arial" panose="020B0604020202020204" pitchFamily="34" charset="0"/>
            </a:endParaRPr>
          </a:p>
          <a:p>
            <a:pPr marL="285750" indent="-285750">
              <a:buFont typeface="Arial" panose="020B0604020202020204" pitchFamily="34" charset="0"/>
              <a:buChar char="•"/>
            </a:pPr>
            <a:r>
              <a:rPr lang="en-US" sz="1600" b="1" dirty="0">
                <a:ea typeface="Cambria" panose="02040503050406030204" pitchFamily="18" charset="0"/>
                <a:cs typeface="Arial" panose="020B0604020202020204" pitchFamily="34" charset="0"/>
              </a:rPr>
              <a:t>Data</a:t>
            </a:r>
            <a:r>
              <a:rPr lang="en-US" sz="1600" b="1" spc="-170" dirty="0">
                <a:ea typeface="Cambria" panose="02040503050406030204" pitchFamily="18" charset="0"/>
                <a:cs typeface="Arial" panose="020B0604020202020204" pitchFamily="34" charset="0"/>
              </a:rPr>
              <a:t> </a:t>
            </a:r>
            <a:r>
              <a:rPr lang="en-US" sz="1600" b="1" dirty="0">
                <a:ea typeface="Cambria" panose="02040503050406030204" pitchFamily="18" charset="0"/>
                <a:cs typeface="Arial" panose="020B0604020202020204" pitchFamily="34" charset="0"/>
              </a:rPr>
              <a:t>Quality:</a:t>
            </a:r>
            <a:r>
              <a:rPr lang="en-US" sz="1600" b="1" spc="-170" dirty="0">
                <a:ea typeface="Cambria" panose="02040503050406030204" pitchFamily="18" charset="0"/>
                <a:cs typeface="Arial" panose="020B0604020202020204" pitchFamily="34" charset="0"/>
              </a:rPr>
              <a:t> </a:t>
            </a:r>
            <a:r>
              <a:rPr lang="en-US" sz="1600" dirty="0">
                <a:ea typeface="Cambria" panose="02040503050406030204" pitchFamily="18" charset="0"/>
                <a:cs typeface="Arial" panose="020B0604020202020204" pitchFamily="34" charset="0"/>
              </a:rPr>
              <a:t>Ensuring</a:t>
            </a:r>
            <a:r>
              <a:rPr lang="en-US" sz="1600" spc="-170" dirty="0">
                <a:ea typeface="Cambria" panose="02040503050406030204" pitchFamily="18" charset="0"/>
                <a:cs typeface="Arial" panose="020B0604020202020204" pitchFamily="34" charset="0"/>
              </a:rPr>
              <a:t> </a:t>
            </a:r>
            <a:r>
              <a:rPr lang="en-US" sz="1600" dirty="0">
                <a:ea typeface="Cambria" panose="02040503050406030204" pitchFamily="18" charset="0"/>
                <a:cs typeface="Arial" panose="020B0604020202020204" pitchFamily="34" charset="0"/>
              </a:rPr>
              <a:t>accuracy</a:t>
            </a:r>
            <a:r>
              <a:rPr lang="en-US" sz="1600" spc="-170" dirty="0">
                <a:ea typeface="Cambria" panose="02040503050406030204" pitchFamily="18" charset="0"/>
                <a:cs typeface="Arial" panose="020B0604020202020204" pitchFamily="34" charset="0"/>
              </a:rPr>
              <a:t> </a:t>
            </a:r>
            <a:r>
              <a:rPr lang="en-US" sz="1600" dirty="0">
                <a:ea typeface="Cambria" panose="02040503050406030204" pitchFamily="18" charset="0"/>
                <a:cs typeface="Arial" panose="020B0604020202020204" pitchFamily="34" charset="0"/>
              </a:rPr>
              <a:t>and</a:t>
            </a:r>
            <a:r>
              <a:rPr lang="en-US" sz="1600" spc="-170" dirty="0">
                <a:ea typeface="Cambria" panose="02040503050406030204" pitchFamily="18" charset="0"/>
                <a:cs typeface="Arial" panose="020B0604020202020204" pitchFamily="34" charset="0"/>
              </a:rPr>
              <a:t> </a:t>
            </a:r>
            <a:r>
              <a:rPr lang="en-US" sz="1600" dirty="0">
                <a:ea typeface="Cambria" panose="02040503050406030204" pitchFamily="18" charset="0"/>
                <a:cs typeface="Arial" panose="020B0604020202020204" pitchFamily="34" charset="0"/>
              </a:rPr>
              <a:t>reliability of the data.</a:t>
            </a:r>
          </a:p>
          <a:p>
            <a:pPr marL="285750" indent="-285750">
              <a:buFont typeface="Arial" panose="020B0604020202020204" pitchFamily="34" charset="0"/>
              <a:buChar char="•"/>
            </a:pPr>
            <a:r>
              <a:rPr lang="en-US" sz="1600" b="1" dirty="0">
                <a:ea typeface="Cambria" panose="02040503050406030204" pitchFamily="18" charset="0"/>
                <a:cs typeface="Arial" panose="020B0604020202020204" pitchFamily="34" charset="0"/>
              </a:rPr>
              <a:t>Complex</a:t>
            </a:r>
            <a:r>
              <a:rPr lang="en-US" sz="1600" b="1" spc="-295" dirty="0">
                <a:ea typeface="Cambria" panose="02040503050406030204" pitchFamily="18" charset="0"/>
                <a:cs typeface="Arial" panose="020B0604020202020204" pitchFamily="34" charset="0"/>
              </a:rPr>
              <a:t> </a:t>
            </a:r>
            <a:r>
              <a:rPr lang="en-US" sz="1600" b="1" dirty="0">
                <a:ea typeface="Cambria" panose="02040503050406030204" pitchFamily="18" charset="0"/>
                <a:cs typeface="Arial" panose="020B0604020202020204" pitchFamily="34" charset="0"/>
              </a:rPr>
              <a:t>Relationships:</a:t>
            </a:r>
            <a:r>
              <a:rPr lang="en-US" sz="1600" b="1" spc="-280" dirty="0">
                <a:ea typeface="Cambria" panose="02040503050406030204" pitchFamily="18" charset="0"/>
                <a:cs typeface="Arial" panose="020B0604020202020204" pitchFamily="34" charset="0"/>
              </a:rPr>
              <a:t> </a:t>
            </a:r>
            <a:r>
              <a:rPr lang="en-US" sz="1600" spc="-10" dirty="0">
                <a:ea typeface="Cambria" panose="02040503050406030204" pitchFamily="18" charset="0"/>
                <a:cs typeface="Arial" panose="020B0604020202020204" pitchFamily="34" charset="0"/>
              </a:rPr>
              <a:t>Establishing </a:t>
            </a:r>
            <a:r>
              <a:rPr lang="en-US" sz="1600" dirty="0">
                <a:ea typeface="Cambria" panose="02040503050406030204" pitchFamily="18" charset="0"/>
                <a:cs typeface="Arial" panose="020B0604020202020204" pitchFamily="34" charset="0"/>
              </a:rPr>
              <a:t>connections</a:t>
            </a:r>
            <a:r>
              <a:rPr lang="en-US" sz="1600" spc="-225" dirty="0">
                <a:ea typeface="Cambria" panose="02040503050406030204" pitchFamily="18" charset="0"/>
                <a:cs typeface="Arial" panose="020B0604020202020204" pitchFamily="34" charset="0"/>
              </a:rPr>
              <a:t> </a:t>
            </a:r>
            <a:r>
              <a:rPr lang="en-US" sz="1600" dirty="0">
                <a:ea typeface="Cambria" panose="02040503050406030204" pitchFamily="18" charset="0"/>
                <a:cs typeface="Arial" panose="020B0604020202020204" pitchFamily="34" charset="0"/>
              </a:rPr>
              <a:t>between</a:t>
            </a:r>
            <a:r>
              <a:rPr lang="en-US" sz="1600" spc="-215" dirty="0">
                <a:ea typeface="Cambria" panose="02040503050406030204" pitchFamily="18" charset="0"/>
                <a:cs typeface="Arial" panose="020B0604020202020204" pitchFamily="34" charset="0"/>
              </a:rPr>
              <a:t> </a:t>
            </a:r>
            <a:r>
              <a:rPr lang="en-US" sz="1600" dirty="0">
                <a:ea typeface="Cambria" panose="02040503050406030204" pitchFamily="18" charset="0"/>
                <a:cs typeface="Arial" panose="020B0604020202020204" pitchFamily="34" charset="0"/>
              </a:rPr>
              <a:t>different</a:t>
            </a:r>
            <a:r>
              <a:rPr lang="en-US" sz="1600" spc="-215" dirty="0">
                <a:ea typeface="Cambria" panose="02040503050406030204" pitchFamily="18" charset="0"/>
                <a:cs typeface="Arial" panose="020B0604020202020204" pitchFamily="34" charset="0"/>
              </a:rPr>
              <a:t> </a:t>
            </a:r>
            <a:r>
              <a:rPr lang="en-US" sz="1600" dirty="0">
                <a:ea typeface="Cambria" panose="02040503050406030204" pitchFamily="18" charset="0"/>
                <a:cs typeface="Arial" panose="020B0604020202020204" pitchFamily="34" charset="0"/>
              </a:rPr>
              <a:t>data</a:t>
            </a:r>
            <a:r>
              <a:rPr lang="en-US" sz="1600" spc="-210" dirty="0">
                <a:ea typeface="Cambria" panose="02040503050406030204" pitchFamily="18" charset="0"/>
                <a:cs typeface="Arial" panose="020B0604020202020204" pitchFamily="34" charset="0"/>
              </a:rPr>
              <a:t> </a:t>
            </a:r>
            <a:r>
              <a:rPr lang="en-US" sz="1600" spc="-10" dirty="0">
                <a:ea typeface="Cambria" panose="02040503050406030204" pitchFamily="18" charset="0"/>
                <a:cs typeface="Arial" panose="020B0604020202020204" pitchFamily="34" charset="0"/>
              </a:rPr>
              <a:t>points.</a:t>
            </a:r>
          </a:p>
          <a:p>
            <a:pPr marL="285750" indent="-285750">
              <a:buFont typeface="Arial" panose="020B0604020202020204" pitchFamily="34" charset="0"/>
              <a:buChar char="•"/>
            </a:pPr>
            <a:r>
              <a:rPr lang="en-US" sz="1600" b="1" dirty="0">
                <a:cs typeface="Arial" panose="020B0604020202020204" pitchFamily="34" charset="0"/>
              </a:rPr>
              <a:t>Errors and Duplicates:</a:t>
            </a:r>
            <a:r>
              <a:rPr lang="en-US" sz="1600" dirty="0">
                <a:cs typeface="Arial" panose="020B0604020202020204" pitchFamily="34" charset="0"/>
              </a:rPr>
              <a:t> Cleaning data to fix incorrect values and remove duplicates.</a:t>
            </a:r>
          </a:p>
          <a:p>
            <a:pPr marL="285750" indent="-285750">
              <a:buFont typeface="Arial" panose="020B0604020202020204" pitchFamily="34" charset="0"/>
              <a:buChar char="•"/>
            </a:pPr>
            <a:r>
              <a:rPr lang="en-US" sz="1600" b="1" dirty="0">
                <a:cs typeface="Arial" panose="020B0604020202020204" pitchFamily="34" charset="0"/>
              </a:rPr>
              <a:t>Outliers:</a:t>
            </a:r>
            <a:r>
              <a:rPr lang="en-US" sz="1600" dirty="0">
                <a:cs typeface="Arial" panose="020B0604020202020204" pitchFamily="34" charset="0"/>
              </a:rPr>
              <a:t> Flagging and handling unusual data for accuracy.</a:t>
            </a:r>
            <a:endParaRPr lang="en-US" sz="1600" dirty="0">
              <a:ea typeface="Cambria" panose="02040503050406030204" pitchFamily="18" charset="0"/>
              <a:cs typeface="Arial" panose="020B0604020202020204" pitchFamily="34" charset="0"/>
            </a:endParaRPr>
          </a:p>
          <a:p>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57243"/>
            <a:ext cx="7772400" cy="640080"/>
          </a:xfrm>
          <a:prstGeom prst="rect">
            <a:avLst/>
          </a:prstGeom>
          <a:noFill/>
          <a:ln/>
        </p:spPr>
        <p:txBody>
          <a:bodyPr wrap="square" lIns="0" tIns="0" rIns="0" bIns="0" rtlCol="0" anchor="ctr"/>
          <a:lstStyle/>
          <a:p>
            <a:pPr algn="ctr"/>
            <a:r>
              <a:rPr lang="en-US" sz="4000" b="1" dirty="0">
                <a:solidFill>
                  <a:schemeClr val="accent1">
                    <a:lumMod val="75000"/>
                  </a:schemeClr>
                </a:solidFill>
                <a:highlight>
                  <a:srgbClr val="C0C0C0"/>
                </a:highlight>
                <a:latin typeface="Algerian" panose="04020705040A02060702" pitchFamily="82" charset="0"/>
                <a:cs typeface="Times New Roman" panose="02020603050405020304" pitchFamily="18" charset="0"/>
              </a:rPr>
              <a:t>KPI’s Analysis</a:t>
            </a:r>
            <a:endParaRPr lang="en-US" sz="4000" dirty="0">
              <a:solidFill>
                <a:schemeClr val="accent1">
                  <a:lumMod val="75000"/>
                </a:schemeClr>
              </a:solidFill>
              <a:highlight>
                <a:srgbClr val="C0C0C0"/>
              </a:highlight>
              <a:latin typeface="Algerian" panose="04020705040A02060702" pitchFamily="82" charset="0"/>
            </a:endParaRPr>
          </a:p>
        </p:txBody>
      </p:sp>
      <p:sp>
        <p:nvSpPr>
          <p:cNvPr id="3" name="Text 1"/>
          <p:cNvSpPr/>
          <p:nvPr/>
        </p:nvSpPr>
        <p:spPr>
          <a:xfrm>
            <a:off x="476528" y="697323"/>
            <a:ext cx="8667472" cy="4445620"/>
          </a:xfrm>
          <a:prstGeom prst="rect">
            <a:avLst/>
          </a:prstGeom>
          <a:noFill/>
          <a:ln/>
        </p:spPr>
        <p:txBody>
          <a:bodyPr wrap="square" lIns="0" tIns="0" rIns="0" bIns="0" rtlCol="0" anchor="ctr"/>
          <a:lstStyle/>
          <a:p>
            <a:pPr>
              <a:buFont typeface="+mj-lt"/>
              <a:buAutoNum type="arabicPeriod"/>
            </a:pPr>
            <a:r>
              <a:rPr lang="en-US" sz="1200" b="1" dirty="0">
                <a:cs typeface="Arial" panose="020B0604020202020204" pitchFamily="34" charset="0"/>
              </a:rPr>
              <a:t>Date Fields (Year, Month, Quarter, etc.):</a:t>
            </a:r>
            <a:endParaRPr lang="en-US" sz="1200" dirty="0">
              <a:cs typeface="Arial" panose="020B0604020202020204" pitchFamily="34" charset="0"/>
            </a:endParaRPr>
          </a:p>
          <a:p>
            <a:pPr marL="742950" lvl="1" indent="-285750">
              <a:buFont typeface="+mj-lt"/>
              <a:buAutoNum type="arabicPeriod"/>
            </a:pPr>
            <a:r>
              <a:rPr lang="en-US" sz="1200" dirty="0">
                <a:cs typeface="Arial" panose="020B0604020202020204" pitchFamily="34" charset="0"/>
              </a:rPr>
              <a:t>Identify seasonal trends and busiest periods for better planning.</a:t>
            </a:r>
          </a:p>
          <a:p>
            <a:pPr marL="742950" lvl="1" indent="-285750">
              <a:buFont typeface="+mj-lt"/>
              <a:buAutoNum type="arabicPeriod"/>
            </a:pPr>
            <a:r>
              <a:rPr lang="en-US" sz="1200" dirty="0">
                <a:cs typeface="Arial" panose="020B0604020202020204" pitchFamily="34" charset="0"/>
              </a:rPr>
              <a:t>Spot weekday vs. weekend travel patterns to allocate resources effectively.</a:t>
            </a:r>
          </a:p>
          <a:p>
            <a:pPr>
              <a:buFont typeface="+mj-lt"/>
              <a:buAutoNum type="arabicPeriod"/>
            </a:pPr>
            <a:r>
              <a:rPr lang="en-US" sz="1200" b="1" dirty="0">
                <a:cs typeface="Arial" panose="020B0604020202020204" pitchFamily="34" charset="0"/>
              </a:rPr>
              <a:t>Load Factor Percentage (Yearly, Quarterly, Monthly):</a:t>
            </a:r>
            <a:endParaRPr lang="en-US" sz="1200" dirty="0">
              <a:cs typeface="Arial" panose="020B0604020202020204" pitchFamily="34" charset="0"/>
            </a:endParaRPr>
          </a:p>
          <a:p>
            <a:pPr marL="742950" lvl="1" indent="-285750">
              <a:buFont typeface="+mj-lt"/>
              <a:buAutoNum type="arabicPeriod"/>
            </a:pPr>
            <a:r>
              <a:rPr lang="en-US" sz="1200" dirty="0">
                <a:cs typeface="Arial" panose="020B0604020202020204" pitchFamily="34" charset="0"/>
              </a:rPr>
              <a:t>Monitor seat utilization efficiency.</a:t>
            </a:r>
          </a:p>
          <a:p>
            <a:pPr marL="742950" lvl="1" indent="-285750">
              <a:buFont typeface="+mj-lt"/>
              <a:buAutoNum type="arabicPeriod"/>
            </a:pPr>
            <a:r>
              <a:rPr lang="en-US" sz="1200" dirty="0">
                <a:cs typeface="Arial" panose="020B0604020202020204" pitchFamily="34" charset="0"/>
              </a:rPr>
              <a:t>Highlight underutilized periods for improvement or cost reduction.</a:t>
            </a:r>
          </a:p>
          <a:p>
            <a:pPr>
              <a:buFont typeface="+mj-lt"/>
              <a:buAutoNum type="arabicPeriod"/>
            </a:pPr>
            <a:r>
              <a:rPr lang="en-US" sz="1200" b="1" dirty="0">
                <a:cs typeface="Arial" panose="020B0604020202020204" pitchFamily="34" charset="0"/>
              </a:rPr>
              <a:t>Load Factor by Carrier:</a:t>
            </a:r>
            <a:endParaRPr lang="en-US" sz="1200" dirty="0">
              <a:cs typeface="Arial" panose="020B0604020202020204" pitchFamily="34" charset="0"/>
            </a:endParaRPr>
          </a:p>
          <a:p>
            <a:pPr marL="742950" lvl="1" indent="-285750">
              <a:buFont typeface="+mj-lt"/>
              <a:buAutoNum type="arabicPeriod"/>
            </a:pPr>
            <a:r>
              <a:rPr lang="en-US" sz="1200" dirty="0">
                <a:cs typeface="Arial" panose="020B0604020202020204" pitchFamily="34" charset="0"/>
              </a:rPr>
              <a:t>Compare carrier performance in seat utilization.</a:t>
            </a:r>
          </a:p>
          <a:p>
            <a:pPr marL="742950" lvl="1" indent="-285750">
              <a:buFont typeface="+mj-lt"/>
              <a:buAutoNum type="arabicPeriod"/>
            </a:pPr>
            <a:r>
              <a:rPr lang="en-US" sz="1200" dirty="0">
                <a:cs typeface="Arial" panose="020B0604020202020204" pitchFamily="34" charset="0"/>
              </a:rPr>
              <a:t>Identify top-performing and underperforming carriers.</a:t>
            </a:r>
          </a:p>
          <a:p>
            <a:pPr>
              <a:buFont typeface="+mj-lt"/>
              <a:buAutoNum type="arabicPeriod"/>
            </a:pPr>
            <a:r>
              <a:rPr lang="en-US" sz="1200" b="1" dirty="0">
                <a:cs typeface="Arial" panose="020B0604020202020204" pitchFamily="34" charset="0"/>
              </a:rPr>
              <a:t>Top 10 Carriers by Passengers:</a:t>
            </a:r>
            <a:endParaRPr lang="en-US" sz="1200" dirty="0">
              <a:cs typeface="Arial" panose="020B0604020202020204" pitchFamily="34" charset="0"/>
            </a:endParaRPr>
          </a:p>
          <a:p>
            <a:pPr marL="742950" lvl="1" indent="-285750">
              <a:buFont typeface="+mj-lt"/>
              <a:buAutoNum type="arabicPeriod"/>
            </a:pPr>
            <a:r>
              <a:rPr lang="en-US" sz="1200" dirty="0">
                <a:cs typeface="Arial" panose="020B0604020202020204" pitchFamily="34" charset="0"/>
              </a:rPr>
              <a:t>Reveal most popular carriers.</a:t>
            </a:r>
          </a:p>
          <a:p>
            <a:pPr marL="742950" lvl="1" indent="-285750">
              <a:buFont typeface="+mj-lt"/>
              <a:buAutoNum type="arabicPeriod"/>
            </a:pPr>
            <a:r>
              <a:rPr lang="en-US" sz="1200" dirty="0">
                <a:cs typeface="Arial" panose="020B0604020202020204" pitchFamily="34" charset="0"/>
              </a:rPr>
              <a:t>Focus on improving customer experience for less-preferred carriers.</a:t>
            </a:r>
          </a:p>
          <a:p>
            <a:pPr>
              <a:buFont typeface="+mj-lt"/>
              <a:buAutoNum type="arabicPeriod"/>
            </a:pPr>
            <a:r>
              <a:rPr lang="en-US" sz="1200" b="1" dirty="0">
                <a:cs typeface="Arial" panose="020B0604020202020204" pitchFamily="34" charset="0"/>
              </a:rPr>
              <a:t>Top Routes (From-To City):</a:t>
            </a:r>
            <a:endParaRPr lang="en-US" sz="1200" dirty="0">
              <a:cs typeface="Arial" panose="020B0604020202020204" pitchFamily="34" charset="0"/>
            </a:endParaRPr>
          </a:p>
          <a:p>
            <a:pPr marL="742950" lvl="1" indent="-285750">
              <a:buFont typeface="+mj-lt"/>
              <a:buAutoNum type="arabicPeriod"/>
            </a:pPr>
            <a:r>
              <a:rPr lang="en-US" sz="1200" dirty="0">
                <a:cs typeface="Arial" panose="020B0604020202020204" pitchFamily="34" charset="0"/>
              </a:rPr>
              <a:t>Highlight busiest routes for better scheduling and resource allocation.</a:t>
            </a:r>
          </a:p>
          <a:p>
            <a:pPr marL="742950" lvl="1" indent="-285750">
              <a:buFont typeface="+mj-lt"/>
              <a:buAutoNum type="arabicPeriod"/>
            </a:pPr>
            <a:r>
              <a:rPr lang="en-US" sz="1200" dirty="0">
                <a:cs typeface="Arial" panose="020B0604020202020204" pitchFamily="34" charset="0"/>
              </a:rPr>
              <a:t>Identify routes with growth potential or need for additional flights.</a:t>
            </a:r>
          </a:p>
          <a:p>
            <a:pPr>
              <a:buFont typeface="+mj-lt"/>
              <a:buAutoNum type="arabicPeriod"/>
            </a:pPr>
            <a:r>
              <a:rPr lang="en-US" sz="1200" b="1" dirty="0">
                <a:cs typeface="Arial" panose="020B0604020202020204" pitchFamily="34" charset="0"/>
              </a:rPr>
              <a:t>Load Factor: Weekends vs. Weekdays:</a:t>
            </a:r>
            <a:endParaRPr lang="en-US" sz="1200" dirty="0">
              <a:cs typeface="Arial" panose="020B0604020202020204" pitchFamily="34" charset="0"/>
            </a:endParaRPr>
          </a:p>
          <a:p>
            <a:pPr marL="742950" lvl="1" indent="-285750">
              <a:buFont typeface="+mj-lt"/>
              <a:buAutoNum type="arabicPeriod"/>
            </a:pPr>
            <a:r>
              <a:rPr lang="en-US" sz="1200" dirty="0">
                <a:cs typeface="Arial" panose="020B0604020202020204" pitchFamily="34" charset="0"/>
              </a:rPr>
              <a:t>Understand leisure vs. business travel trends.</a:t>
            </a:r>
          </a:p>
          <a:p>
            <a:pPr marL="742950" lvl="1" indent="-285750">
              <a:buFont typeface="+mj-lt"/>
              <a:buAutoNum type="arabicPeriod"/>
            </a:pPr>
            <a:r>
              <a:rPr lang="en-US" sz="1200" dirty="0">
                <a:cs typeface="Arial" panose="020B0604020202020204" pitchFamily="34" charset="0"/>
              </a:rPr>
              <a:t>Optimize pricing strategies for weekends and weekdays.</a:t>
            </a:r>
          </a:p>
          <a:p>
            <a:pPr>
              <a:buFont typeface="+mj-lt"/>
              <a:buAutoNum type="arabicPeriod"/>
            </a:pPr>
            <a:r>
              <a:rPr lang="en-US" sz="1200" b="1" dirty="0">
                <a:cs typeface="Arial" panose="020B0604020202020204" pitchFamily="34" charset="0"/>
              </a:rPr>
              <a:t>Flight Search Filter (Source to Destination):</a:t>
            </a:r>
            <a:endParaRPr lang="en-US" sz="1200" dirty="0">
              <a:cs typeface="Arial" panose="020B0604020202020204" pitchFamily="34" charset="0"/>
            </a:endParaRPr>
          </a:p>
          <a:p>
            <a:pPr marL="742950" lvl="1" indent="-285750">
              <a:buFont typeface="+mj-lt"/>
              <a:buAutoNum type="arabicPeriod"/>
            </a:pPr>
            <a:r>
              <a:rPr lang="en-US" sz="1200" dirty="0">
                <a:cs typeface="Arial" panose="020B0604020202020204" pitchFamily="34" charset="0"/>
              </a:rPr>
              <a:t>Analyze popular routes and demand patterns for better route planning.</a:t>
            </a:r>
          </a:p>
          <a:p>
            <a:pPr>
              <a:buFont typeface="+mj-lt"/>
              <a:buAutoNum type="arabicPeriod"/>
            </a:pPr>
            <a:r>
              <a:rPr lang="en-US" sz="1200" b="1" dirty="0">
                <a:cs typeface="Arial" panose="020B0604020202020204" pitchFamily="34" charset="0"/>
              </a:rPr>
              <a:t>Flights by Distance Groups:</a:t>
            </a:r>
            <a:endParaRPr lang="en-US" sz="1200" dirty="0">
              <a:cs typeface="Arial" panose="020B0604020202020204" pitchFamily="34" charset="0"/>
            </a:endParaRPr>
          </a:p>
          <a:p>
            <a:pPr marL="742950" lvl="1" indent="-285750">
              <a:buFont typeface="+mj-lt"/>
              <a:buAutoNum type="arabicPeriod"/>
            </a:pPr>
            <a:r>
              <a:rPr lang="en-US" sz="1200" dirty="0">
                <a:cs typeface="Arial" panose="020B0604020202020204" pitchFamily="34" charset="0"/>
              </a:rPr>
              <a:t>Identify demand for short-haul, medium-haul, and long-haul flights.</a:t>
            </a:r>
          </a:p>
          <a:p>
            <a:pPr marL="742950" lvl="1" indent="-285750">
              <a:buFont typeface="+mj-lt"/>
              <a:buAutoNum type="arabicPeriod"/>
            </a:pPr>
            <a:r>
              <a:rPr lang="en-US" sz="1200" dirty="0">
                <a:cs typeface="Arial" panose="020B0604020202020204" pitchFamily="34" charset="0"/>
              </a:rPr>
              <a:t>Optimize aircraft allocation and explore new opportunities</a:t>
            </a:r>
            <a:r>
              <a:rPr lang="en-US" sz="1200" dirty="0"/>
              <a:t>.</a:t>
            </a:r>
          </a:p>
        </p:txBody>
      </p:sp>
      <p:pic>
        <p:nvPicPr>
          <p:cNvPr id="14" name="Picture 13">
            <a:extLst>
              <a:ext uri="{FF2B5EF4-FFF2-40B4-BE49-F238E27FC236}">
                <a16:creationId xmlns:a16="http://schemas.microsoft.com/office/drawing/2014/main" id="{279BB8FA-86AD-22D8-058F-6C6A7B6C730D}"/>
              </a:ext>
            </a:extLst>
          </p:cNvPr>
          <p:cNvPicPr>
            <a:picLocks noChangeAspect="1"/>
          </p:cNvPicPr>
          <p:nvPr/>
        </p:nvPicPr>
        <p:blipFill>
          <a:blip r:embed="rId3"/>
          <a:stretch>
            <a:fillRect/>
          </a:stretch>
        </p:blipFill>
        <p:spPr>
          <a:xfrm>
            <a:off x="6215884" y="697323"/>
            <a:ext cx="1228097" cy="1095959"/>
          </a:xfrm>
          <a:prstGeom prst="rect">
            <a:avLst/>
          </a:prstGeom>
        </p:spPr>
      </p:pic>
      <p:pic>
        <p:nvPicPr>
          <p:cNvPr id="16" name="Picture 15">
            <a:extLst>
              <a:ext uri="{FF2B5EF4-FFF2-40B4-BE49-F238E27FC236}">
                <a16:creationId xmlns:a16="http://schemas.microsoft.com/office/drawing/2014/main" id="{8220D76C-EACD-8429-9DB0-E90763C54E57}"/>
              </a:ext>
            </a:extLst>
          </p:cNvPr>
          <p:cNvPicPr>
            <a:picLocks noChangeAspect="1"/>
          </p:cNvPicPr>
          <p:nvPr/>
        </p:nvPicPr>
        <p:blipFill>
          <a:blip r:embed="rId4"/>
          <a:stretch>
            <a:fillRect/>
          </a:stretch>
        </p:blipFill>
        <p:spPr>
          <a:xfrm>
            <a:off x="7684458" y="1750200"/>
            <a:ext cx="1187219" cy="1058827"/>
          </a:xfrm>
          <a:prstGeom prst="rect">
            <a:avLst/>
          </a:prstGeom>
        </p:spPr>
      </p:pic>
      <p:pic>
        <p:nvPicPr>
          <p:cNvPr id="18" name="Picture 17">
            <a:extLst>
              <a:ext uri="{FF2B5EF4-FFF2-40B4-BE49-F238E27FC236}">
                <a16:creationId xmlns:a16="http://schemas.microsoft.com/office/drawing/2014/main" id="{6FB9B698-23B7-D9B6-075E-A93C2F08DAA7}"/>
              </a:ext>
            </a:extLst>
          </p:cNvPr>
          <p:cNvPicPr>
            <a:picLocks noChangeAspect="1"/>
          </p:cNvPicPr>
          <p:nvPr/>
        </p:nvPicPr>
        <p:blipFill>
          <a:blip r:embed="rId5"/>
          <a:stretch>
            <a:fillRect/>
          </a:stretch>
        </p:blipFill>
        <p:spPr>
          <a:xfrm>
            <a:off x="964459" y="155375"/>
            <a:ext cx="1372487" cy="670528"/>
          </a:xfrm>
          <a:prstGeom prst="rect">
            <a:avLst/>
          </a:prstGeom>
        </p:spPr>
      </p:pic>
      <p:pic>
        <p:nvPicPr>
          <p:cNvPr id="20" name="Picture 19">
            <a:extLst>
              <a:ext uri="{FF2B5EF4-FFF2-40B4-BE49-F238E27FC236}">
                <a16:creationId xmlns:a16="http://schemas.microsoft.com/office/drawing/2014/main" id="{8FAB0701-13A5-8678-B924-75414E2C118F}"/>
              </a:ext>
            </a:extLst>
          </p:cNvPr>
          <p:cNvPicPr>
            <a:picLocks noChangeAspect="1"/>
          </p:cNvPicPr>
          <p:nvPr/>
        </p:nvPicPr>
        <p:blipFill>
          <a:blip r:embed="rId6"/>
          <a:stretch>
            <a:fillRect/>
          </a:stretch>
        </p:blipFill>
        <p:spPr>
          <a:xfrm>
            <a:off x="7443981" y="3538887"/>
            <a:ext cx="1213384" cy="1095959"/>
          </a:xfrm>
          <a:prstGeom prst="rect">
            <a:avLst/>
          </a:prstGeom>
        </p:spPr>
      </p:pic>
      <p:pic>
        <p:nvPicPr>
          <p:cNvPr id="22" name="Picture 21">
            <a:extLst>
              <a:ext uri="{FF2B5EF4-FFF2-40B4-BE49-F238E27FC236}">
                <a16:creationId xmlns:a16="http://schemas.microsoft.com/office/drawing/2014/main" id="{A5EB3E74-F163-CA43-E9B8-CC41A5D3A9BC}"/>
              </a:ext>
            </a:extLst>
          </p:cNvPr>
          <p:cNvPicPr>
            <a:picLocks noChangeAspect="1"/>
          </p:cNvPicPr>
          <p:nvPr/>
        </p:nvPicPr>
        <p:blipFill>
          <a:blip r:embed="rId7"/>
          <a:stretch>
            <a:fillRect/>
          </a:stretch>
        </p:blipFill>
        <p:spPr>
          <a:xfrm>
            <a:off x="5995226" y="2461979"/>
            <a:ext cx="1189219" cy="121223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06EAD8A-6C06-0B3D-0256-D61BDE4DE587}"/>
              </a:ext>
            </a:extLst>
          </p:cNvPr>
          <p:cNvPicPr>
            <a:picLocks noChangeAspect="1"/>
          </p:cNvPicPr>
          <p:nvPr/>
        </p:nvPicPr>
        <p:blipFill>
          <a:blip r:embed="rId3"/>
          <a:stretch>
            <a:fillRect/>
          </a:stretch>
        </p:blipFill>
        <p:spPr>
          <a:xfrm>
            <a:off x="0" y="-11514"/>
            <a:ext cx="9144000" cy="5155014"/>
          </a:xfrm>
          <a:prstGeom prst="rect">
            <a:avLst/>
          </a:prstGeom>
        </p:spPr>
      </p:pic>
      <p:pic>
        <p:nvPicPr>
          <p:cNvPr id="9" name="Picture 8">
            <a:extLst>
              <a:ext uri="{FF2B5EF4-FFF2-40B4-BE49-F238E27FC236}">
                <a16:creationId xmlns:a16="http://schemas.microsoft.com/office/drawing/2014/main" id="{B85A5AC9-EFCA-D736-1114-842F805E2257}"/>
              </a:ext>
            </a:extLst>
          </p:cNvPr>
          <p:cNvPicPr>
            <a:picLocks noChangeAspect="1"/>
          </p:cNvPicPr>
          <p:nvPr/>
        </p:nvPicPr>
        <p:blipFill>
          <a:blip r:embed="rId4"/>
          <a:stretch>
            <a:fillRect/>
          </a:stretch>
        </p:blipFill>
        <p:spPr>
          <a:xfrm>
            <a:off x="0" y="346"/>
            <a:ext cx="9144000" cy="5142807"/>
          </a:xfrm>
          <a:prstGeom prst="rect">
            <a:avLst/>
          </a:prstGeom>
        </p:spPr>
      </p:pic>
      <p:pic>
        <p:nvPicPr>
          <p:cNvPr id="8" name="Picture 7">
            <a:extLst>
              <a:ext uri="{FF2B5EF4-FFF2-40B4-BE49-F238E27FC236}">
                <a16:creationId xmlns:a16="http://schemas.microsoft.com/office/drawing/2014/main" id="{EE6325F8-9B06-085F-731A-0A997679E16A}"/>
              </a:ext>
            </a:extLst>
          </p:cNvPr>
          <p:cNvPicPr>
            <a:picLocks noChangeAspect="1"/>
          </p:cNvPicPr>
          <p:nvPr/>
        </p:nvPicPr>
        <p:blipFill>
          <a:blip r:embed="rId5"/>
          <a:stretch>
            <a:fillRect/>
          </a:stretch>
        </p:blipFill>
        <p:spPr>
          <a:xfrm>
            <a:off x="392965" y="683229"/>
            <a:ext cx="8358069" cy="4288815"/>
          </a:xfrm>
          <a:prstGeom prst="rect">
            <a:avLst/>
          </a:prstGeom>
        </p:spPr>
      </p:pic>
      <p:sp>
        <p:nvSpPr>
          <p:cNvPr id="4" name="TextBox 3">
            <a:extLst>
              <a:ext uri="{FF2B5EF4-FFF2-40B4-BE49-F238E27FC236}">
                <a16:creationId xmlns:a16="http://schemas.microsoft.com/office/drawing/2014/main" id="{E1B00629-DCE8-D307-DB71-E58B9C9F4A4D}"/>
              </a:ext>
            </a:extLst>
          </p:cNvPr>
          <p:cNvSpPr txBox="1"/>
          <p:nvPr/>
        </p:nvSpPr>
        <p:spPr>
          <a:xfrm>
            <a:off x="0" y="-143792"/>
            <a:ext cx="9144000" cy="827021"/>
          </a:xfrm>
          <a:prstGeom prst="rect">
            <a:avLst/>
          </a:prstGeom>
          <a:noFill/>
        </p:spPr>
        <p:txBody>
          <a:bodyPr wrap="square">
            <a:spAutoFit/>
          </a:bodyPr>
          <a:lstStyle/>
          <a:p>
            <a:pPr algn="ctr">
              <a:lnSpc>
                <a:spcPct val="150000"/>
              </a:lnSpc>
            </a:pPr>
            <a:r>
              <a:rPr lang="en-US" sz="3600" b="1">
                <a:solidFill>
                  <a:schemeClr val="accent1">
                    <a:lumMod val="75000"/>
                  </a:schemeClr>
                </a:solidFill>
                <a:highlight>
                  <a:srgbClr val="C0C0C0"/>
                </a:highlight>
                <a:latin typeface="Algerian" panose="04020705040A02060702" pitchFamily="82" charset="0"/>
              </a:rPr>
              <a:t>AIRLINE KPI’s FRAMEWORK</a:t>
            </a:r>
            <a:endParaRPr lang="en-US" sz="3600" b="1" dirty="0">
              <a:solidFill>
                <a:schemeClr val="accent1">
                  <a:lumMod val="75000"/>
                </a:schemeClr>
              </a:solidFill>
              <a:highlight>
                <a:srgbClr val="C0C0C0"/>
              </a:highlight>
              <a:latin typeface="Algerian" panose="04020705040A02060702" pitchFamily="82"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C63EF-4235-9E2F-872F-47CC8AF79E5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F5CCCBC-3C35-633D-39FB-D5D9F7AD06F6}"/>
              </a:ext>
            </a:extLst>
          </p:cNvPr>
          <p:cNvPicPr>
            <a:picLocks noChangeAspect="1"/>
          </p:cNvPicPr>
          <p:nvPr/>
        </p:nvPicPr>
        <p:blipFill>
          <a:blip r:embed="rId3"/>
          <a:stretch>
            <a:fillRect/>
          </a:stretch>
        </p:blipFill>
        <p:spPr>
          <a:xfrm>
            <a:off x="0" y="-5214"/>
            <a:ext cx="9144000" cy="5148714"/>
          </a:xfrm>
          <a:prstGeom prst="rect">
            <a:avLst/>
          </a:prstGeom>
        </p:spPr>
      </p:pic>
      <p:pic>
        <p:nvPicPr>
          <p:cNvPr id="7" name="Picture 6">
            <a:extLst>
              <a:ext uri="{FF2B5EF4-FFF2-40B4-BE49-F238E27FC236}">
                <a16:creationId xmlns:a16="http://schemas.microsoft.com/office/drawing/2014/main" id="{253A963C-BA27-8469-4FA0-BC1880C092FC}"/>
              </a:ext>
            </a:extLst>
          </p:cNvPr>
          <p:cNvPicPr>
            <a:picLocks noChangeAspect="1"/>
          </p:cNvPicPr>
          <p:nvPr/>
        </p:nvPicPr>
        <p:blipFill>
          <a:blip r:embed="rId4"/>
          <a:stretch>
            <a:fillRect/>
          </a:stretch>
        </p:blipFill>
        <p:spPr>
          <a:xfrm>
            <a:off x="0" y="346"/>
            <a:ext cx="9144000" cy="5142807"/>
          </a:xfrm>
          <a:prstGeom prst="rect">
            <a:avLst/>
          </a:prstGeom>
        </p:spPr>
      </p:pic>
      <p:sp>
        <p:nvSpPr>
          <p:cNvPr id="3" name="Text 1">
            <a:extLst>
              <a:ext uri="{FF2B5EF4-FFF2-40B4-BE49-F238E27FC236}">
                <a16:creationId xmlns:a16="http://schemas.microsoft.com/office/drawing/2014/main" id="{9FAA2F39-C07D-57BC-3409-5C2F2437FBA5}"/>
              </a:ext>
            </a:extLst>
          </p:cNvPr>
          <p:cNvSpPr/>
          <p:nvPr/>
        </p:nvSpPr>
        <p:spPr>
          <a:xfrm>
            <a:off x="479281" y="437684"/>
            <a:ext cx="4590806" cy="4705816"/>
          </a:xfrm>
          <a:prstGeom prst="rect">
            <a:avLst/>
          </a:prstGeom>
          <a:noFill/>
          <a:ln/>
        </p:spPr>
        <p:txBody>
          <a:bodyPr wrap="square" lIns="0" tIns="0" rIns="0" bIns="0" rtlCol="0" anchor="ctr"/>
          <a:lstStyle/>
          <a:p>
            <a:pPr marL="285750" indent="-285750">
              <a:lnSpc>
                <a:spcPct val="150000"/>
              </a:lnSpc>
              <a:buFont typeface="Wingdings" panose="05000000000000000000" pitchFamily="2" charset="2"/>
              <a:buChar char="q"/>
            </a:pPr>
            <a:r>
              <a:rPr lang="en-US" sz="1200" b="1" u="sng" dirty="0">
                <a:solidFill>
                  <a:schemeClr val="bg1"/>
                </a:solidFill>
                <a:cs typeface="Times New Roman" panose="02020603050405020304" pitchFamily="18" charset="0"/>
              </a:rPr>
              <a:t>Observation</a:t>
            </a:r>
          </a:p>
          <a:p>
            <a:pPr marL="171450" indent="-171450">
              <a:buFont typeface="Arial" panose="020B0604020202020204" pitchFamily="34" charset="0"/>
              <a:buChar char="•"/>
            </a:pPr>
            <a:r>
              <a:rPr lang="en-US" sz="1200" b="1" dirty="0">
                <a:solidFill>
                  <a:schemeClr val="bg1"/>
                </a:solidFill>
                <a:cs typeface="Times New Roman" panose="02020603050405020304" pitchFamily="18" charset="0"/>
              </a:rPr>
              <a:t>The yearly load factor shows how efficiently airlines utilized available seats over different years.</a:t>
            </a:r>
          </a:p>
          <a:p>
            <a:pPr marL="171450" indent="-171450">
              <a:buFont typeface="Arial" panose="020B0604020202020204" pitchFamily="34" charset="0"/>
              <a:buChar char="•"/>
            </a:pPr>
            <a:r>
              <a:rPr lang="en-US" sz="1200" b="1" dirty="0">
                <a:solidFill>
                  <a:schemeClr val="bg1"/>
                </a:solidFill>
                <a:cs typeface="Times New Roman" panose="02020603050405020304" pitchFamily="18" charset="0"/>
              </a:rPr>
              <a:t>Some years recorded higher passenger occupancy, indicating stronger travel demand.</a:t>
            </a:r>
          </a:p>
          <a:p>
            <a:pPr marL="171450" indent="-171450">
              <a:buFont typeface="Arial" panose="020B0604020202020204" pitchFamily="34" charset="0"/>
              <a:buChar char="•"/>
            </a:pPr>
            <a:r>
              <a:rPr lang="en-US" sz="1200" b="1" dirty="0">
                <a:solidFill>
                  <a:schemeClr val="bg1"/>
                </a:solidFill>
                <a:cs typeface="Times New Roman" panose="02020603050405020304" pitchFamily="18" charset="0"/>
              </a:rPr>
              <a:t>Lower load factor years may indicate reduced operational efficiency or lower passenger demand.</a:t>
            </a:r>
          </a:p>
          <a:p>
            <a:endParaRPr lang="en-US" sz="1200" b="1" dirty="0">
              <a:solidFill>
                <a:schemeClr val="bg1"/>
              </a:solidFill>
              <a:cs typeface="Times New Roman" panose="02020603050405020304" pitchFamily="18" charset="0"/>
            </a:endParaRPr>
          </a:p>
          <a:p>
            <a:pPr marL="285750" indent="-285750">
              <a:lnSpc>
                <a:spcPct val="150000"/>
              </a:lnSpc>
              <a:buFont typeface="Wingdings" panose="05000000000000000000" pitchFamily="2" charset="2"/>
              <a:buChar char="q"/>
            </a:pPr>
            <a:r>
              <a:rPr lang="en-US" sz="1200" b="1" u="sng" dirty="0">
                <a:solidFill>
                  <a:schemeClr val="bg1"/>
                </a:solidFill>
                <a:cs typeface="Times New Roman" panose="02020603050405020304" pitchFamily="18" charset="0"/>
              </a:rPr>
              <a:t>Suggestion</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Airlines should increase flight frequency during high-demand years.</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Low-performing years should be analyzed for operational inefficiencies or market disruptions.</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Dynamic pricing and route optimization can improve seat occupancy.</a:t>
            </a:r>
          </a:p>
          <a:p>
            <a:endParaRPr lang="en-US" sz="1200" b="1" dirty="0">
              <a:solidFill>
                <a:schemeClr val="bg1"/>
              </a:solidFill>
              <a:cs typeface="Times New Roman" panose="02020603050405020304" pitchFamily="18" charset="0"/>
            </a:endParaRPr>
          </a:p>
          <a:p>
            <a:pPr marL="285750" indent="-285750">
              <a:lnSpc>
                <a:spcPct val="150000"/>
              </a:lnSpc>
              <a:buFont typeface="Wingdings" panose="05000000000000000000" pitchFamily="2" charset="2"/>
              <a:buChar char="q"/>
            </a:pPr>
            <a:r>
              <a:rPr lang="en-US" sz="1200" b="1" u="sng" dirty="0">
                <a:solidFill>
                  <a:schemeClr val="bg1"/>
                </a:solidFill>
                <a:cs typeface="Times New Roman" panose="02020603050405020304" pitchFamily="18" charset="0"/>
              </a:rPr>
              <a:t>Conclusion:</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Yearly load factor is a strong indicator of airline operational efficiency and passenger demand trends.</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Maintaining consistently high load factors improves profitability and resource utilization.</a:t>
            </a:r>
          </a:p>
        </p:txBody>
      </p:sp>
      <p:sp>
        <p:nvSpPr>
          <p:cNvPr id="2" name="Text 0">
            <a:extLst>
              <a:ext uri="{FF2B5EF4-FFF2-40B4-BE49-F238E27FC236}">
                <a16:creationId xmlns:a16="http://schemas.microsoft.com/office/drawing/2014/main" id="{7C2DA052-2E85-8309-6C56-9ED2FADEEB29}"/>
              </a:ext>
            </a:extLst>
          </p:cNvPr>
          <p:cNvSpPr/>
          <p:nvPr/>
        </p:nvSpPr>
        <p:spPr>
          <a:xfrm>
            <a:off x="591538" y="-134510"/>
            <a:ext cx="7960924" cy="788715"/>
          </a:xfrm>
          <a:prstGeom prst="rect">
            <a:avLst/>
          </a:prstGeom>
          <a:noFill/>
          <a:ln/>
        </p:spPr>
        <p:txBody>
          <a:bodyPr wrap="square" lIns="0" tIns="0" rIns="0" bIns="0" rtlCol="0" anchor="ctr"/>
          <a:lstStyle/>
          <a:p>
            <a:pPr algn="ctr">
              <a:lnSpc>
                <a:spcPct val="150000"/>
              </a:lnSpc>
            </a:pPr>
            <a:r>
              <a:rPr lang="en-US" sz="2400" b="1" u="sng" dirty="0">
                <a:solidFill>
                  <a:schemeClr val="bg1"/>
                </a:solidFill>
                <a:highlight>
                  <a:srgbClr val="000000"/>
                </a:highlight>
                <a:latin typeface="Algerian" panose="04020705040A02060702" pitchFamily="82" charset="0"/>
                <a:cs typeface="Times New Roman" panose="02020603050405020304" pitchFamily="18" charset="0"/>
              </a:rPr>
              <a:t>KPI-1: YEARLY LOAD FACTOR%</a:t>
            </a:r>
          </a:p>
        </p:txBody>
      </p:sp>
      <p:graphicFrame>
        <p:nvGraphicFramePr>
          <p:cNvPr id="4" name="Chart 3">
            <a:extLst>
              <a:ext uri="{FF2B5EF4-FFF2-40B4-BE49-F238E27FC236}">
                <a16:creationId xmlns:a16="http://schemas.microsoft.com/office/drawing/2014/main" id="{4177829F-CDAB-4601-FF67-27113EFB5EA7}"/>
              </a:ext>
            </a:extLst>
          </p:cNvPr>
          <p:cNvGraphicFramePr>
            <a:graphicFrameLocks/>
          </p:cNvGraphicFramePr>
          <p:nvPr>
            <p:extLst>
              <p:ext uri="{D42A27DB-BD31-4B8C-83A1-F6EECF244321}">
                <p14:modId xmlns:p14="http://schemas.microsoft.com/office/powerpoint/2010/main" val="2229765558"/>
              </p:ext>
            </p:extLst>
          </p:nvPr>
        </p:nvGraphicFramePr>
        <p:xfrm>
          <a:off x="5177525" y="1214715"/>
          <a:ext cx="3859037" cy="3119392"/>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641903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AD328-1C08-5090-5476-AE6B6C5FB7C8}"/>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B4DAE4ED-6FDA-2E1C-2190-2FCF55C78310}"/>
              </a:ext>
            </a:extLst>
          </p:cNvPr>
          <p:cNvPicPr>
            <a:picLocks noChangeAspect="1"/>
          </p:cNvPicPr>
          <p:nvPr/>
        </p:nvPicPr>
        <p:blipFill>
          <a:blip r:embed="rId3"/>
          <a:stretch>
            <a:fillRect/>
          </a:stretch>
        </p:blipFill>
        <p:spPr>
          <a:xfrm>
            <a:off x="0" y="0"/>
            <a:ext cx="9144000" cy="5143500"/>
          </a:xfrm>
          <a:prstGeom prst="rect">
            <a:avLst/>
          </a:prstGeom>
        </p:spPr>
      </p:pic>
      <p:pic>
        <p:nvPicPr>
          <p:cNvPr id="23" name="Picture 22">
            <a:extLst>
              <a:ext uri="{FF2B5EF4-FFF2-40B4-BE49-F238E27FC236}">
                <a16:creationId xmlns:a16="http://schemas.microsoft.com/office/drawing/2014/main" id="{28967937-C4A8-901A-F1ED-BE40A83F16B1}"/>
              </a:ext>
            </a:extLst>
          </p:cNvPr>
          <p:cNvPicPr>
            <a:picLocks noChangeAspect="1"/>
          </p:cNvPicPr>
          <p:nvPr/>
        </p:nvPicPr>
        <p:blipFill>
          <a:blip r:embed="rId4"/>
          <a:stretch>
            <a:fillRect/>
          </a:stretch>
        </p:blipFill>
        <p:spPr>
          <a:xfrm>
            <a:off x="0" y="0"/>
            <a:ext cx="9144000" cy="5142807"/>
          </a:xfrm>
          <a:prstGeom prst="rect">
            <a:avLst/>
          </a:prstGeom>
        </p:spPr>
      </p:pic>
      <p:sp>
        <p:nvSpPr>
          <p:cNvPr id="4" name="TextBox 3">
            <a:extLst>
              <a:ext uri="{FF2B5EF4-FFF2-40B4-BE49-F238E27FC236}">
                <a16:creationId xmlns:a16="http://schemas.microsoft.com/office/drawing/2014/main" id="{C3012079-6949-F3CF-849D-250262885019}"/>
              </a:ext>
            </a:extLst>
          </p:cNvPr>
          <p:cNvSpPr txBox="1"/>
          <p:nvPr/>
        </p:nvSpPr>
        <p:spPr>
          <a:xfrm>
            <a:off x="349955" y="664539"/>
            <a:ext cx="4222045" cy="4062651"/>
          </a:xfrm>
          <a:prstGeom prst="rect">
            <a:avLst/>
          </a:prstGeom>
          <a:noFill/>
        </p:spPr>
        <p:txBody>
          <a:bodyPr wrap="square" rtlCol="0">
            <a:spAutoFit/>
          </a:bodyPr>
          <a:lstStyle/>
          <a:p>
            <a:endParaRPr lang="en-US" sz="1200" b="1" u="sng" dirty="0">
              <a:solidFill>
                <a:schemeClr val="bg1"/>
              </a:solidFill>
              <a:cs typeface="Times New Roman" panose="02020603050405020304" pitchFamily="18" charset="0"/>
            </a:endParaRPr>
          </a:p>
          <a:p>
            <a:pPr marL="285750" indent="-285750">
              <a:lnSpc>
                <a:spcPct val="150000"/>
              </a:lnSpc>
              <a:buFont typeface="Wingdings" panose="05000000000000000000" pitchFamily="2" charset="2"/>
              <a:buChar char="q"/>
            </a:pPr>
            <a:r>
              <a:rPr lang="en-US" sz="1200" b="1" u="sng" dirty="0">
                <a:solidFill>
                  <a:schemeClr val="bg1"/>
                </a:solidFill>
                <a:cs typeface="Times New Roman" panose="02020603050405020304" pitchFamily="18" charset="0"/>
              </a:rPr>
              <a:t>Observation</a:t>
            </a:r>
            <a:r>
              <a:rPr lang="en-US" sz="1200" b="1" dirty="0">
                <a:solidFill>
                  <a:schemeClr val="bg1"/>
                </a:solidFill>
                <a:cs typeface="Times New Roman" panose="02020603050405020304" pitchFamily="18" charset="0"/>
              </a:rPr>
              <a:t>: </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Certain quarters show significantly higher load factors due to seasonal travel demand.</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Vacation periods and festive seasons generally contribute to increased passenger traffic.</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Some quarters experience lower occupancy levels.</a:t>
            </a:r>
          </a:p>
          <a:p>
            <a:endParaRPr lang="en-US" sz="1200" b="1" dirty="0">
              <a:solidFill>
                <a:schemeClr val="bg1"/>
              </a:solidFill>
              <a:cs typeface="Times New Roman" panose="02020603050405020304" pitchFamily="18" charset="0"/>
            </a:endParaRPr>
          </a:p>
          <a:p>
            <a:pPr marL="285750" indent="-285750">
              <a:lnSpc>
                <a:spcPct val="150000"/>
              </a:lnSpc>
              <a:buFont typeface="Wingdings" panose="05000000000000000000" pitchFamily="2" charset="2"/>
              <a:buChar char="q"/>
            </a:pPr>
            <a:r>
              <a:rPr lang="en-US" sz="1200" b="1" u="sng" dirty="0">
                <a:solidFill>
                  <a:schemeClr val="bg1"/>
                </a:solidFill>
                <a:cs typeface="Times New Roman" panose="02020603050405020304" pitchFamily="18" charset="0"/>
              </a:rPr>
              <a:t>Suggestion</a:t>
            </a:r>
            <a:r>
              <a:rPr lang="en-US" sz="1200" b="1" dirty="0">
                <a:solidFill>
                  <a:schemeClr val="bg1"/>
                </a:solidFill>
                <a:cs typeface="Times New Roman" panose="02020603050405020304" pitchFamily="18" charset="0"/>
              </a:rPr>
              <a:t>: </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Airlines should introduce seasonal offers during weaker quarters.</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Increase marketing campaigns before peak quarters.</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Capacity planning should align with seasonal demand fluctuations.</a:t>
            </a:r>
          </a:p>
          <a:p>
            <a:pPr marL="285750" indent="-285750">
              <a:buFont typeface="Arial" panose="020B0604020202020204" pitchFamily="34" charset="0"/>
              <a:buChar char="•"/>
            </a:pPr>
            <a:endParaRPr lang="en-US" sz="1200" b="1" dirty="0">
              <a:solidFill>
                <a:schemeClr val="bg1"/>
              </a:solidFill>
              <a:cs typeface="Times New Roman" panose="02020603050405020304" pitchFamily="18" charset="0"/>
            </a:endParaRPr>
          </a:p>
          <a:p>
            <a:pPr marL="285750" indent="-285750">
              <a:lnSpc>
                <a:spcPct val="150000"/>
              </a:lnSpc>
              <a:buFont typeface="Wingdings" panose="05000000000000000000" pitchFamily="2" charset="2"/>
              <a:buChar char="q"/>
            </a:pPr>
            <a:r>
              <a:rPr lang="en-US" sz="1200" b="1" u="sng" dirty="0">
                <a:solidFill>
                  <a:schemeClr val="bg1"/>
                </a:solidFill>
                <a:cs typeface="Times New Roman" panose="02020603050405020304" pitchFamily="18" charset="0"/>
              </a:rPr>
              <a:t>Conclusion</a:t>
            </a:r>
            <a:r>
              <a:rPr lang="en-US" sz="1200" b="1" dirty="0">
                <a:solidFill>
                  <a:schemeClr val="bg1"/>
                </a:solidFill>
                <a:cs typeface="Times New Roman" panose="02020603050405020304" pitchFamily="18" charset="0"/>
              </a:rPr>
              <a:t>:</a:t>
            </a:r>
          </a:p>
          <a:p>
            <a:pPr marL="285750" indent="-285750">
              <a:lnSpc>
                <a:spcPct val="150000"/>
              </a:lnSpc>
              <a:buFont typeface="Arial" panose="020B0604020202020204" pitchFamily="34" charset="0"/>
              <a:buChar char="•"/>
            </a:pPr>
            <a:r>
              <a:rPr lang="en-US" sz="1200" b="1" dirty="0">
                <a:solidFill>
                  <a:schemeClr val="bg1"/>
                </a:solidFill>
                <a:cs typeface="Times New Roman" panose="02020603050405020304" pitchFamily="18" charset="0"/>
              </a:rPr>
              <a:t>Quarterly analysis helps airlines identify seasonal travel patterns and optimize operations accordingly.</a:t>
            </a:r>
            <a:endParaRPr lang="en-US" sz="1200" b="1" dirty="0">
              <a:solidFill>
                <a:schemeClr val="bg1"/>
              </a:solidFill>
            </a:endParaRPr>
          </a:p>
          <a:p>
            <a:endParaRPr lang="en-US" sz="1200" b="1" dirty="0">
              <a:solidFill>
                <a:schemeClr val="bg1"/>
              </a:solidFill>
            </a:endParaRPr>
          </a:p>
        </p:txBody>
      </p:sp>
      <p:sp>
        <p:nvSpPr>
          <p:cNvPr id="5" name="Text 0">
            <a:extLst>
              <a:ext uri="{FF2B5EF4-FFF2-40B4-BE49-F238E27FC236}">
                <a16:creationId xmlns:a16="http://schemas.microsoft.com/office/drawing/2014/main" id="{2219B968-40E8-AC98-D6BB-1E302A97989A}"/>
              </a:ext>
            </a:extLst>
          </p:cNvPr>
          <p:cNvSpPr/>
          <p:nvPr/>
        </p:nvSpPr>
        <p:spPr>
          <a:xfrm>
            <a:off x="451556" y="120433"/>
            <a:ext cx="7960924" cy="423673"/>
          </a:xfrm>
          <a:prstGeom prst="rect">
            <a:avLst/>
          </a:prstGeom>
          <a:noFill/>
          <a:ln/>
        </p:spPr>
        <p:txBody>
          <a:bodyPr wrap="square" lIns="0" tIns="0" rIns="0" bIns="0" rtlCol="0" anchor="ctr"/>
          <a:lstStyle/>
          <a:p>
            <a:pPr algn="ctr">
              <a:lnSpc>
                <a:spcPct val="150000"/>
              </a:lnSpc>
            </a:pPr>
            <a:r>
              <a:rPr lang="en-US" sz="2400" b="1" u="sng" dirty="0">
                <a:solidFill>
                  <a:schemeClr val="bg1"/>
                </a:solidFill>
                <a:highlight>
                  <a:srgbClr val="000000"/>
                </a:highlight>
                <a:latin typeface="Algerian" panose="04020705040A02060702" pitchFamily="82" charset="0"/>
                <a:cs typeface="Times New Roman" panose="02020603050405020304" pitchFamily="18" charset="0"/>
              </a:rPr>
              <a:t>KPI-2: QUARTERLY LOAD FACTOR:</a:t>
            </a:r>
          </a:p>
        </p:txBody>
      </p:sp>
      <p:graphicFrame>
        <p:nvGraphicFramePr>
          <p:cNvPr id="3" name="Chart 2">
            <a:extLst>
              <a:ext uri="{FF2B5EF4-FFF2-40B4-BE49-F238E27FC236}">
                <a16:creationId xmlns:a16="http://schemas.microsoft.com/office/drawing/2014/main" id="{41BE9645-62E0-0810-CB54-2488B06737C2}"/>
              </a:ext>
            </a:extLst>
          </p:cNvPr>
          <p:cNvGraphicFramePr>
            <a:graphicFrameLocks/>
          </p:cNvGraphicFramePr>
          <p:nvPr>
            <p:extLst>
              <p:ext uri="{D42A27DB-BD31-4B8C-83A1-F6EECF244321}">
                <p14:modId xmlns:p14="http://schemas.microsoft.com/office/powerpoint/2010/main" val="2359475068"/>
              </p:ext>
            </p:extLst>
          </p:nvPr>
        </p:nvGraphicFramePr>
        <p:xfrm>
          <a:off x="4646341" y="1095767"/>
          <a:ext cx="4222045" cy="3097092"/>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4041357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4D6B8-8195-5AFF-7F6D-754C3C205CDC}"/>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8CDB1E88-0FD9-FA19-E2B1-C4D6484E3CAC}"/>
              </a:ext>
            </a:extLst>
          </p:cNvPr>
          <p:cNvPicPr>
            <a:picLocks noChangeAspect="1"/>
          </p:cNvPicPr>
          <p:nvPr/>
        </p:nvPicPr>
        <p:blipFill>
          <a:blip r:embed="rId3"/>
          <a:stretch>
            <a:fillRect/>
          </a:stretch>
        </p:blipFill>
        <p:spPr>
          <a:xfrm>
            <a:off x="0" y="0"/>
            <a:ext cx="9144000" cy="5143500"/>
          </a:xfrm>
          <a:prstGeom prst="rect">
            <a:avLst/>
          </a:prstGeom>
        </p:spPr>
      </p:pic>
      <p:pic>
        <p:nvPicPr>
          <p:cNvPr id="23" name="Picture 22">
            <a:extLst>
              <a:ext uri="{FF2B5EF4-FFF2-40B4-BE49-F238E27FC236}">
                <a16:creationId xmlns:a16="http://schemas.microsoft.com/office/drawing/2014/main" id="{1FADF646-FE17-C848-708A-9B2043F57ADD}"/>
              </a:ext>
            </a:extLst>
          </p:cNvPr>
          <p:cNvPicPr>
            <a:picLocks noChangeAspect="1"/>
          </p:cNvPicPr>
          <p:nvPr/>
        </p:nvPicPr>
        <p:blipFill>
          <a:blip r:embed="rId4"/>
          <a:stretch>
            <a:fillRect/>
          </a:stretch>
        </p:blipFill>
        <p:spPr>
          <a:xfrm>
            <a:off x="0" y="693"/>
            <a:ext cx="9144000" cy="5142807"/>
          </a:xfrm>
          <a:prstGeom prst="rect">
            <a:avLst/>
          </a:prstGeom>
        </p:spPr>
      </p:pic>
      <p:sp>
        <p:nvSpPr>
          <p:cNvPr id="4" name="TextBox 3">
            <a:extLst>
              <a:ext uri="{FF2B5EF4-FFF2-40B4-BE49-F238E27FC236}">
                <a16:creationId xmlns:a16="http://schemas.microsoft.com/office/drawing/2014/main" id="{EE1BAB09-1679-350B-4BFB-0A4C4EEDE2BF}"/>
              </a:ext>
            </a:extLst>
          </p:cNvPr>
          <p:cNvSpPr txBox="1"/>
          <p:nvPr/>
        </p:nvSpPr>
        <p:spPr>
          <a:xfrm>
            <a:off x="357116" y="781788"/>
            <a:ext cx="4360814" cy="3539430"/>
          </a:xfrm>
          <a:prstGeom prst="rect">
            <a:avLst/>
          </a:prstGeom>
          <a:noFill/>
        </p:spPr>
        <p:txBody>
          <a:bodyPr wrap="square" rtlCol="0">
            <a:spAutoFit/>
          </a:bodyPr>
          <a:lstStyle/>
          <a:p>
            <a:endParaRPr lang="en-US" sz="1200" dirty="0">
              <a:solidFill>
                <a:schemeClr val="bg1"/>
              </a:solidFill>
            </a:endParaRPr>
          </a:p>
          <a:p>
            <a:endParaRPr lang="en-US" sz="1400" b="1" u="sng" dirty="0">
              <a:solidFill>
                <a:schemeClr val="bg1"/>
              </a:solidFill>
              <a:highlight>
                <a:srgbClr val="000000"/>
              </a:highlight>
              <a:cs typeface="Times New Roman" panose="02020603050405020304" pitchFamily="18" charset="0"/>
            </a:endParaRPr>
          </a:p>
          <a:p>
            <a:pPr marL="285750" indent="-285750">
              <a:lnSpc>
                <a:spcPct val="150000"/>
              </a:lnSpc>
              <a:buFont typeface="Wingdings" panose="05000000000000000000" pitchFamily="2" charset="2"/>
              <a:buChar char="q"/>
            </a:pPr>
            <a:r>
              <a:rPr lang="en-US" sz="1200" b="1" u="sng" dirty="0">
                <a:solidFill>
                  <a:schemeClr val="bg1"/>
                </a:solidFill>
                <a:cs typeface="Times New Roman" panose="02020603050405020304" pitchFamily="18" charset="0"/>
              </a:rPr>
              <a:t>Observation</a:t>
            </a:r>
            <a:r>
              <a:rPr lang="en-US" sz="1200" b="1" dirty="0">
                <a:solidFill>
                  <a:schemeClr val="bg1"/>
                </a:solidFill>
                <a:cs typeface="Times New Roman" panose="02020603050405020304" pitchFamily="18" charset="0"/>
              </a:rPr>
              <a:t>:</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Passenger occupancy fluctuates month-wise throughout the year.</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Peak travel months contribute heavily to airline revenue.</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Off-season months show comparatively lower seat utilization.</a:t>
            </a:r>
          </a:p>
          <a:p>
            <a:endParaRPr lang="en-US" sz="1200" b="1" dirty="0">
              <a:solidFill>
                <a:schemeClr val="bg1"/>
              </a:solidFill>
              <a:cs typeface="Times New Roman" panose="02020603050405020304" pitchFamily="18" charset="0"/>
            </a:endParaRPr>
          </a:p>
          <a:p>
            <a:pPr marL="285750" indent="-285750">
              <a:lnSpc>
                <a:spcPct val="150000"/>
              </a:lnSpc>
              <a:buFont typeface="Wingdings" panose="05000000000000000000" pitchFamily="2" charset="2"/>
              <a:buChar char="q"/>
            </a:pPr>
            <a:r>
              <a:rPr lang="en-US" sz="1200" b="1" u="sng" dirty="0">
                <a:solidFill>
                  <a:schemeClr val="bg1"/>
                </a:solidFill>
                <a:cs typeface="Times New Roman" panose="02020603050405020304" pitchFamily="18" charset="0"/>
              </a:rPr>
              <a:t>Suggestion</a:t>
            </a:r>
            <a:r>
              <a:rPr lang="en-US" sz="1200" b="1" dirty="0">
                <a:solidFill>
                  <a:schemeClr val="bg1"/>
                </a:solidFill>
                <a:cs typeface="Times New Roman" panose="02020603050405020304" pitchFamily="18" charset="0"/>
              </a:rPr>
              <a:t>: </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Introduce promotional fares during low-demand months.</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Schedule aircraft maintenance during off-peak months.</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Improve customer loyalty programs to stabilize demand.</a:t>
            </a:r>
          </a:p>
          <a:p>
            <a:endParaRPr lang="en-US" sz="1200" b="1" dirty="0">
              <a:solidFill>
                <a:schemeClr val="bg1"/>
              </a:solidFill>
              <a:cs typeface="Times New Roman" panose="02020603050405020304" pitchFamily="18" charset="0"/>
            </a:endParaRPr>
          </a:p>
          <a:p>
            <a:pPr marL="285750" indent="-285750">
              <a:lnSpc>
                <a:spcPct val="150000"/>
              </a:lnSpc>
              <a:buFont typeface="Wingdings" panose="05000000000000000000" pitchFamily="2" charset="2"/>
              <a:buChar char="q"/>
            </a:pPr>
            <a:r>
              <a:rPr lang="en-US" sz="1200" b="1" u="sng" dirty="0">
                <a:solidFill>
                  <a:schemeClr val="bg1"/>
                </a:solidFill>
                <a:cs typeface="Times New Roman" panose="02020603050405020304" pitchFamily="18" charset="0"/>
              </a:rPr>
              <a:t>Conclusion:</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Monthly load factor analysis enables better operational planning and demand forecasting.</a:t>
            </a:r>
          </a:p>
        </p:txBody>
      </p:sp>
      <p:sp>
        <p:nvSpPr>
          <p:cNvPr id="5" name="Text 0">
            <a:extLst>
              <a:ext uri="{FF2B5EF4-FFF2-40B4-BE49-F238E27FC236}">
                <a16:creationId xmlns:a16="http://schemas.microsoft.com/office/drawing/2014/main" id="{38F165DF-103D-F5D3-9FE9-70ED0D5D3335}"/>
              </a:ext>
            </a:extLst>
          </p:cNvPr>
          <p:cNvSpPr/>
          <p:nvPr/>
        </p:nvSpPr>
        <p:spPr>
          <a:xfrm>
            <a:off x="451555" y="120433"/>
            <a:ext cx="8231527" cy="423673"/>
          </a:xfrm>
          <a:prstGeom prst="rect">
            <a:avLst/>
          </a:prstGeom>
          <a:noFill/>
          <a:ln/>
        </p:spPr>
        <p:txBody>
          <a:bodyPr wrap="square" lIns="0" tIns="0" rIns="0" bIns="0" rtlCol="0" anchor="ctr"/>
          <a:lstStyle/>
          <a:p>
            <a:pPr algn="ctr">
              <a:lnSpc>
                <a:spcPct val="150000"/>
              </a:lnSpc>
            </a:pPr>
            <a:r>
              <a:rPr lang="en-US" sz="2400" b="1" u="sng" dirty="0">
                <a:solidFill>
                  <a:schemeClr val="bg1"/>
                </a:solidFill>
                <a:highlight>
                  <a:srgbClr val="000000"/>
                </a:highlight>
                <a:latin typeface="Algerian" panose="04020705040A02060702" pitchFamily="82" charset="0"/>
                <a:cs typeface="Times New Roman" panose="02020603050405020304" pitchFamily="18" charset="0"/>
              </a:rPr>
              <a:t>KPI-3: Monthly load factor</a:t>
            </a:r>
          </a:p>
        </p:txBody>
      </p:sp>
      <p:graphicFrame>
        <p:nvGraphicFramePr>
          <p:cNvPr id="2" name="Chart 1">
            <a:extLst>
              <a:ext uri="{FF2B5EF4-FFF2-40B4-BE49-F238E27FC236}">
                <a16:creationId xmlns:a16="http://schemas.microsoft.com/office/drawing/2014/main" id="{60CF649A-66EE-94DA-796B-AC6FD1DC4447}"/>
              </a:ext>
            </a:extLst>
          </p:cNvPr>
          <p:cNvGraphicFramePr>
            <a:graphicFrameLocks/>
          </p:cNvGraphicFramePr>
          <p:nvPr>
            <p:extLst>
              <p:ext uri="{D42A27DB-BD31-4B8C-83A1-F6EECF244321}">
                <p14:modId xmlns:p14="http://schemas.microsoft.com/office/powerpoint/2010/main" val="3322092922"/>
              </p:ext>
            </p:extLst>
          </p:nvPr>
        </p:nvGraphicFramePr>
        <p:xfrm>
          <a:off x="4705675" y="1404227"/>
          <a:ext cx="4222736" cy="2825801"/>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015823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2652D-4035-7E33-F38D-1CA005260B9E}"/>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B31C5457-29C2-7D97-4566-BEBC7832273A}"/>
              </a:ext>
            </a:extLst>
          </p:cNvPr>
          <p:cNvPicPr>
            <a:picLocks noChangeAspect="1"/>
          </p:cNvPicPr>
          <p:nvPr/>
        </p:nvPicPr>
        <p:blipFill>
          <a:blip r:embed="rId3"/>
          <a:stretch>
            <a:fillRect/>
          </a:stretch>
        </p:blipFill>
        <p:spPr>
          <a:xfrm>
            <a:off x="0" y="0"/>
            <a:ext cx="9144000" cy="5143500"/>
          </a:xfrm>
          <a:prstGeom prst="rect">
            <a:avLst/>
          </a:prstGeom>
        </p:spPr>
      </p:pic>
      <p:pic>
        <p:nvPicPr>
          <p:cNvPr id="23" name="Picture 22">
            <a:extLst>
              <a:ext uri="{FF2B5EF4-FFF2-40B4-BE49-F238E27FC236}">
                <a16:creationId xmlns:a16="http://schemas.microsoft.com/office/drawing/2014/main" id="{8E71C975-015D-1134-42E5-DD0377D3EA33}"/>
              </a:ext>
            </a:extLst>
          </p:cNvPr>
          <p:cNvPicPr>
            <a:picLocks noChangeAspect="1"/>
          </p:cNvPicPr>
          <p:nvPr/>
        </p:nvPicPr>
        <p:blipFill>
          <a:blip r:embed="rId4"/>
          <a:stretch>
            <a:fillRect/>
          </a:stretch>
        </p:blipFill>
        <p:spPr>
          <a:xfrm>
            <a:off x="0" y="0"/>
            <a:ext cx="9144000" cy="5142807"/>
          </a:xfrm>
          <a:prstGeom prst="rect">
            <a:avLst/>
          </a:prstGeom>
        </p:spPr>
      </p:pic>
      <p:sp>
        <p:nvSpPr>
          <p:cNvPr id="4" name="TextBox 3">
            <a:extLst>
              <a:ext uri="{FF2B5EF4-FFF2-40B4-BE49-F238E27FC236}">
                <a16:creationId xmlns:a16="http://schemas.microsoft.com/office/drawing/2014/main" id="{6472C384-A52C-B26B-508E-97D670B74596}"/>
              </a:ext>
            </a:extLst>
          </p:cNvPr>
          <p:cNvSpPr txBox="1"/>
          <p:nvPr/>
        </p:nvSpPr>
        <p:spPr>
          <a:xfrm>
            <a:off x="300973" y="492821"/>
            <a:ext cx="4665616" cy="4157164"/>
          </a:xfrm>
          <a:prstGeom prst="rect">
            <a:avLst/>
          </a:prstGeom>
          <a:noFill/>
        </p:spPr>
        <p:txBody>
          <a:bodyPr wrap="square" rtlCol="0">
            <a:spAutoFit/>
          </a:bodyPr>
          <a:lstStyle/>
          <a:p>
            <a:endParaRPr lang="en-US" sz="1200" dirty="0">
              <a:solidFill>
                <a:schemeClr val="bg1"/>
              </a:solidFill>
            </a:endParaRPr>
          </a:p>
          <a:p>
            <a:endParaRPr lang="en-US" sz="1400" b="1" u="sng" dirty="0">
              <a:solidFill>
                <a:schemeClr val="bg1"/>
              </a:solidFill>
              <a:highlight>
                <a:srgbClr val="000000"/>
              </a:highlight>
              <a:cs typeface="Times New Roman" panose="02020603050405020304" pitchFamily="18" charset="0"/>
            </a:endParaRPr>
          </a:p>
          <a:p>
            <a:pPr marL="285750" indent="-285750">
              <a:lnSpc>
                <a:spcPct val="150000"/>
              </a:lnSpc>
              <a:buFont typeface="Wingdings" panose="05000000000000000000" pitchFamily="2" charset="2"/>
              <a:buChar char="q"/>
            </a:pPr>
            <a:r>
              <a:rPr lang="en-US" sz="1200" b="1" u="sng" dirty="0">
                <a:solidFill>
                  <a:schemeClr val="bg1"/>
                </a:solidFill>
                <a:cs typeface="Times New Roman" panose="02020603050405020304" pitchFamily="18" charset="0"/>
              </a:rPr>
              <a:t>Observation</a:t>
            </a:r>
            <a:r>
              <a:rPr lang="en-US" sz="1200" b="1" dirty="0">
                <a:solidFill>
                  <a:schemeClr val="bg1"/>
                </a:solidFill>
                <a:cs typeface="Times New Roman" panose="02020603050405020304" pitchFamily="18" charset="0"/>
              </a:rPr>
              <a:t>:</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Some airlines maintain consistently higher load factors compared to competitors.</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High-performing carriers indicate strong customer preference and efficient route management.</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Low-performing carriers may face route or pricing challenges.</a:t>
            </a:r>
          </a:p>
          <a:p>
            <a:endParaRPr lang="en-US" sz="1200" b="1" dirty="0">
              <a:solidFill>
                <a:schemeClr val="bg1"/>
              </a:solidFill>
              <a:cs typeface="Times New Roman" panose="02020603050405020304" pitchFamily="18" charset="0"/>
            </a:endParaRPr>
          </a:p>
          <a:p>
            <a:pPr marL="285750" indent="-285750">
              <a:lnSpc>
                <a:spcPct val="150000"/>
              </a:lnSpc>
              <a:buFont typeface="Wingdings" panose="05000000000000000000" pitchFamily="2" charset="2"/>
              <a:buChar char="q"/>
            </a:pPr>
            <a:r>
              <a:rPr lang="en-US" sz="1200" b="1" u="sng" dirty="0">
                <a:solidFill>
                  <a:schemeClr val="bg1"/>
                </a:solidFill>
                <a:cs typeface="Times New Roman" panose="02020603050405020304" pitchFamily="18" charset="0"/>
              </a:rPr>
              <a:t>Suggestion</a:t>
            </a:r>
            <a:r>
              <a:rPr lang="en-US" sz="1200" b="1" dirty="0">
                <a:solidFill>
                  <a:schemeClr val="bg1"/>
                </a:solidFill>
                <a:cs typeface="Times New Roman" panose="02020603050405020304" pitchFamily="18" charset="0"/>
              </a:rPr>
              <a:t>: </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Low-performing airlines should review ticket pricing strategies and service quality.</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Benchmarking against top-performing carriers can improve performance.</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Focus on customer satisfaction and punctuality.</a:t>
            </a:r>
          </a:p>
          <a:p>
            <a:r>
              <a:rPr lang="en-US" sz="1200" dirty="0"/>
              <a:t> </a:t>
            </a:r>
            <a:endParaRPr lang="en-US" sz="1200" b="1" dirty="0">
              <a:solidFill>
                <a:schemeClr val="bg1"/>
              </a:solidFill>
              <a:cs typeface="Times New Roman" panose="02020603050405020304" pitchFamily="18" charset="0"/>
            </a:endParaRPr>
          </a:p>
          <a:p>
            <a:pPr marL="285750" indent="-285750">
              <a:lnSpc>
                <a:spcPct val="150000"/>
              </a:lnSpc>
              <a:buFont typeface="Wingdings" panose="05000000000000000000" pitchFamily="2" charset="2"/>
              <a:buChar char="q"/>
            </a:pPr>
            <a:r>
              <a:rPr lang="en-US" sz="1200" b="1" u="sng" dirty="0">
                <a:solidFill>
                  <a:schemeClr val="bg1"/>
                </a:solidFill>
                <a:cs typeface="Times New Roman" panose="02020603050405020304" pitchFamily="18" charset="0"/>
              </a:rPr>
              <a:t>Conclusion:</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Carrier-wise load factor comparison helps identify competitive strengths and operational weaknesses.</a:t>
            </a:r>
          </a:p>
          <a:p>
            <a:pPr>
              <a:lnSpc>
                <a:spcPct val="150000"/>
              </a:lnSpc>
            </a:pPr>
            <a:endParaRPr lang="en-US" sz="1200" b="1" dirty="0">
              <a:solidFill>
                <a:schemeClr val="bg1"/>
              </a:solidFill>
              <a:cs typeface="Times New Roman" panose="02020603050405020304" pitchFamily="18" charset="0"/>
            </a:endParaRPr>
          </a:p>
        </p:txBody>
      </p:sp>
      <p:sp>
        <p:nvSpPr>
          <p:cNvPr id="5" name="Text 0">
            <a:extLst>
              <a:ext uri="{FF2B5EF4-FFF2-40B4-BE49-F238E27FC236}">
                <a16:creationId xmlns:a16="http://schemas.microsoft.com/office/drawing/2014/main" id="{A46FC8C0-50E1-2169-D585-C842186B49BB}"/>
              </a:ext>
            </a:extLst>
          </p:cNvPr>
          <p:cNvSpPr/>
          <p:nvPr/>
        </p:nvSpPr>
        <p:spPr>
          <a:xfrm>
            <a:off x="451556" y="120433"/>
            <a:ext cx="7960924" cy="423673"/>
          </a:xfrm>
          <a:prstGeom prst="rect">
            <a:avLst/>
          </a:prstGeom>
          <a:noFill/>
          <a:ln/>
        </p:spPr>
        <p:txBody>
          <a:bodyPr wrap="square" lIns="0" tIns="0" rIns="0" bIns="0" rtlCol="0" anchor="ctr"/>
          <a:lstStyle/>
          <a:p>
            <a:pPr algn="ctr"/>
            <a:r>
              <a:rPr lang="en-US" sz="2400" b="1" u="sng" dirty="0">
                <a:solidFill>
                  <a:schemeClr val="bg1"/>
                </a:solidFill>
                <a:latin typeface="Algerian" panose="04020705040A02060702" pitchFamily="82" charset="0"/>
                <a:cs typeface="Times New Roman" panose="02020603050405020304" pitchFamily="18" charset="0"/>
              </a:rPr>
              <a:t>KPI-4: Load Factor By Carrier Name</a:t>
            </a:r>
          </a:p>
        </p:txBody>
      </p:sp>
      <p:pic>
        <p:nvPicPr>
          <p:cNvPr id="6" name="Picture 5">
            <a:extLst>
              <a:ext uri="{FF2B5EF4-FFF2-40B4-BE49-F238E27FC236}">
                <a16:creationId xmlns:a16="http://schemas.microsoft.com/office/drawing/2014/main" id="{4B3F47F5-231C-0525-B94A-5A3431358C84}"/>
              </a:ext>
            </a:extLst>
          </p:cNvPr>
          <p:cNvPicPr>
            <a:picLocks noChangeAspect="1"/>
          </p:cNvPicPr>
          <p:nvPr/>
        </p:nvPicPr>
        <p:blipFill>
          <a:blip r:embed="rId5"/>
          <a:stretch>
            <a:fillRect/>
          </a:stretch>
        </p:blipFill>
        <p:spPr>
          <a:xfrm>
            <a:off x="4875231" y="1222648"/>
            <a:ext cx="4108749" cy="3029311"/>
          </a:xfrm>
          <a:prstGeom prst="rect">
            <a:avLst/>
          </a:prstGeom>
        </p:spPr>
      </p:pic>
    </p:spTree>
    <p:extLst>
      <p:ext uri="{BB962C8B-B14F-4D97-AF65-F5344CB8AC3E}">
        <p14:creationId xmlns:p14="http://schemas.microsoft.com/office/powerpoint/2010/main" val="3268912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8001B-6B4E-F4E1-FB63-30EB05DBBF5B}"/>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BEF28E49-DB4F-D8BD-DE08-62D042533FF6}"/>
              </a:ext>
            </a:extLst>
          </p:cNvPr>
          <p:cNvPicPr>
            <a:picLocks noChangeAspect="1"/>
          </p:cNvPicPr>
          <p:nvPr/>
        </p:nvPicPr>
        <p:blipFill>
          <a:blip r:embed="rId3"/>
          <a:stretch>
            <a:fillRect/>
          </a:stretch>
        </p:blipFill>
        <p:spPr>
          <a:xfrm>
            <a:off x="0" y="0"/>
            <a:ext cx="9144000" cy="5143500"/>
          </a:xfrm>
          <a:prstGeom prst="rect">
            <a:avLst/>
          </a:prstGeom>
        </p:spPr>
      </p:pic>
      <p:pic>
        <p:nvPicPr>
          <p:cNvPr id="23" name="Picture 22">
            <a:extLst>
              <a:ext uri="{FF2B5EF4-FFF2-40B4-BE49-F238E27FC236}">
                <a16:creationId xmlns:a16="http://schemas.microsoft.com/office/drawing/2014/main" id="{8202EC9B-B906-222F-9F5C-E69515341E19}"/>
              </a:ext>
            </a:extLst>
          </p:cNvPr>
          <p:cNvPicPr>
            <a:picLocks noChangeAspect="1"/>
          </p:cNvPicPr>
          <p:nvPr/>
        </p:nvPicPr>
        <p:blipFill>
          <a:blip r:embed="rId4"/>
          <a:stretch>
            <a:fillRect/>
          </a:stretch>
        </p:blipFill>
        <p:spPr>
          <a:xfrm>
            <a:off x="0" y="0"/>
            <a:ext cx="9144000" cy="5142807"/>
          </a:xfrm>
          <a:prstGeom prst="rect">
            <a:avLst/>
          </a:prstGeom>
        </p:spPr>
      </p:pic>
      <p:sp>
        <p:nvSpPr>
          <p:cNvPr id="4" name="TextBox 3">
            <a:extLst>
              <a:ext uri="{FF2B5EF4-FFF2-40B4-BE49-F238E27FC236}">
                <a16:creationId xmlns:a16="http://schemas.microsoft.com/office/drawing/2014/main" id="{DFFB32A7-B522-4DF1-A5B9-3E3767BF48E1}"/>
              </a:ext>
            </a:extLst>
          </p:cNvPr>
          <p:cNvSpPr txBox="1"/>
          <p:nvPr/>
        </p:nvSpPr>
        <p:spPr>
          <a:xfrm>
            <a:off x="285527" y="482521"/>
            <a:ext cx="4784562" cy="3631763"/>
          </a:xfrm>
          <a:prstGeom prst="rect">
            <a:avLst/>
          </a:prstGeom>
          <a:noFill/>
        </p:spPr>
        <p:txBody>
          <a:bodyPr wrap="square" rtlCol="0">
            <a:spAutoFit/>
          </a:bodyPr>
          <a:lstStyle/>
          <a:p>
            <a:endParaRPr lang="en-US" sz="1200" dirty="0">
              <a:solidFill>
                <a:schemeClr val="bg1"/>
              </a:solidFill>
            </a:endParaRPr>
          </a:p>
          <a:p>
            <a:endParaRPr lang="en-US" sz="1400" b="1" u="sng" dirty="0">
              <a:solidFill>
                <a:schemeClr val="bg1"/>
              </a:solidFill>
              <a:cs typeface="Times New Roman" panose="02020603050405020304" pitchFamily="18" charset="0"/>
            </a:endParaRPr>
          </a:p>
          <a:p>
            <a:pPr marL="285750" indent="-285750">
              <a:buFont typeface="Wingdings" panose="05000000000000000000" pitchFamily="2" charset="2"/>
              <a:buChar char="q"/>
            </a:pPr>
            <a:r>
              <a:rPr lang="en-US" sz="1200" b="1" u="sng" dirty="0">
                <a:solidFill>
                  <a:schemeClr val="bg1"/>
                </a:solidFill>
                <a:cs typeface="Times New Roman" panose="02020603050405020304" pitchFamily="18" charset="0"/>
              </a:rPr>
              <a:t>Observation</a:t>
            </a:r>
            <a:r>
              <a:rPr lang="en-US" sz="1200" b="1" dirty="0">
                <a:solidFill>
                  <a:schemeClr val="bg1"/>
                </a:solidFill>
                <a:cs typeface="Times New Roman" panose="02020603050405020304" pitchFamily="18" charset="0"/>
              </a:rPr>
              <a:t>:</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A small number of carriers dominate total passenger traffic.</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Popular airlines likely benefit from stronger brand value, connectivity, and service quality.</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Passenger concentration is uneven across airlines.</a:t>
            </a:r>
          </a:p>
          <a:p>
            <a:endParaRPr lang="en-US" sz="1200" b="1" dirty="0">
              <a:solidFill>
                <a:schemeClr val="bg1"/>
              </a:solidFill>
              <a:cs typeface="Times New Roman" panose="02020603050405020304" pitchFamily="18" charset="0"/>
            </a:endParaRPr>
          </a:p>
          <a:p>
            <a:pPr marL="285750" indent="-285750">
              <a:lnSpc>
                <a:spcPct val="150000"/>
              </a:lnSpc>
              <a:buFont typeface="Wingdings" panose="05000000000000000000" pitchFamily="2" charset="2"/>
              <a:buChar char="q"/>
            </a:pPr>
            <a:r>
              <a:rPr lang="en-US" sz="1200" b="1" u="sng" dirty="0">
                <a:solidFill>
                  <a:schemeClr val="bg1"/>
                </a:solidFill>
                <a:cs typeface="Times New Roman" panose="02020603050405020304" pitchFamily="18" charset="0"/>
              </a:rPr>
              <a:t>Suggestion</a:t>
            </a:r>
            <a:r>
              <a:rPr lang="en-US" sz="1200" b="1" dirty="0">
                <a:solidFill>
                  <a:schemeClr val="bg1"/>
                </a:solidFill>
                <a:cs typeface="Times New Roman" panose="02020603050405020304" pitchFamily="18" charset="0"/>
              </a:rPr>
              <a:t>: </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Smaller carriers should improve network connectivity and customer experience.</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Focus on digital marketing and loyalty programs to attract passengers.</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Expand routes in high-demand regions.</a:t>
            </a:r>
          </a:p>
          <a:p>
            <a:r>
              <a:rPr lang="en-US" sz="1200" dirty="0"/>
              <a:t> </a:t>
            </a:r>
            <a:endParaRPr lang="en-US" sz="1200" b="1" dirty="0">
              <a:solidFill>
                <a:schemeClr val="bg1"/>
              </a:solidFill>
              <a:cs typeface="Times New Roman" panose="02020603050405020304" pitchFamily="18" charset="0"/>
            </a:endParaRPr>
          </a:p>
          <a:p>
            <a:pPr marL="285750" indent="-285750">
              <a:lnSpc>
                <a:spcPct val="150000"/>
              </a:lnSpc>
              <a:buFont typeface="Wingdings" panose="05000000000000000000" pitchFamily="2" charset="2"/>
              <a:buChar char="q"/>
            </a:pPr>
            <a:r>
              <a:rPr lang="en-US" sz="1200" b="1" u="sng" dirty="0">
                <a:solidFill>
                  <a:schemeClr val="bg1"/>
                </a:solidFill>
                <a:cs typeface="Times New Roman" panose="02020603050405020304" pitchFamily="18" charset="0"/>
              </a:rPr>
              <a:t>Conclusion:</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Passenger preference analysis highlights market leaders and helps evaluate airline competitiveness.</a:t>
            </a:r>
          </a:p>
        </p:txBody>
      </p:sp>
      <p:sp>
        <p:nvSpPr>
          <p:cNvPr id="5" name="Text 0">
            <a:extLst>
              <a:ext uri="{FF2B5EF4-FFF2-40B4-BE49-F238E27FC236}">
                <a16:creationId xmlns:a16="http://schemas.microsoft.com/office/drawing/2014/main" id="{4356CB78-7726-02C9-CB53-AAC3B31F68D2}"/>
              </a:ext>
            </a:extLst>
          </p:cNvPr>
          <p:cNvSpPr/>
          <p:nvPr/>
        </p:nvSpPr>
        <p:spPr>
          <a:xfrm>
            <a:off x="451555" y="120433"/>
            <a:ext cx="8417381" cy="423673"/>
          </a:xfrm>
          <a:prstGeom prst="rect">
            <a:avLst/>
          </a:prstGeom>
          <a:noFill/>
          <a:ln/>
        </p:spPr>
        <p:txBody>
          <a:bodyPr wrap="square" lIns="0" tIns="0" rIns="0" bIns="0" rtlCol="0" anchor="ctr"/>
          <a:lstStyle/>
          <a:p>
            <a:pPr algn="ctr"/>
            <a:r>
              <a:rPr lang="en-US" sz="2000" b="1" u="sng" dirty="0">
                <a:solidFill>
                  <a:schemeClr val="bg1"/>
                </a:solidFill>
                <a:highlight>
                  <a:srgbClr val="000000"/>
                </a:highlight>
                <a:latin typeface="Algerian" panose="04020705040A02060702" pitchFamily="82" charset="0"/>
                <a:cs typeface="Times New Roman" panose="02020603050405020304" pitchFamily="18" charset="0"/>
              </a:rPr>
              <a:t>KPI-5: Top 10 Carriers based on passenger Preference</a:t>
            </a:r>
          </a:p>
        </p:txBody>
      </p:sp>
      <p:graphicFrame>
        <p:nvGraphicFramePr>
          <p:cNvPr id="2" name="Chart 1">
            <a:extLst>
              <a:ext uri="{FF2B5EF4-FFF2-40B4-BE49-F238E27FC236}">
                <a16:creationId xmlns:a16="http://schemas.microsoft.com/office/drawing/2014/main" id="{6C9F9AD6-D3DE-6D4D-5277-42A60E36D6AB}"/>
              </a:ext>
            </a:extLst>
          </p:cNvPr>
          <p:cNvGraphicFramePr>
            <a:graphicFrameLocks/>
          </p:cNvGraphicFramePr>
          <p:nvPr>
            <p:extLst>
              <p:ext uri="{D42A27DB-BD31-4B8C-83A1-F6EECF244321}">
                <p14:modId xmlns:p14="http://schemas.microsoft.com/office/powerpoint/2010/main" val="1954695112"/>
              </p:ext>
            </p:extLst>
          </p:nvPr>
        </p:nvGraphicFramePr>
        <p:xfrm>
          <a:off x="4995251" y="963534"/>
          <a:ext cx="4007500" cy="3073207"/>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4021381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6331A-4B7B-6920-43AB-1EFFDC7E37E3}"/>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75498560-6518-014E-4190-DD52CDC87AC5}"/>
              </a:ext>
            </a:extLst>
          </p:cNvPr>
          <p:cNvPicPr>
            <a:picLocks noChangeAspect="1"/>
          </p:cNvPicPr>
          <p:nvPr/>
        </p:nvPicPr>
        <p:blipFill>
          <a:blip r:embed="rId3"/>
          <a:stretch>
            <a:fillRect/>
          </a:stretch>
        </p:blipFill>
        <p:spPr>
          <a:xfrm>
            <a:off x="0" y="0"/>
            <a:ext cx="9144000" cy="5143500"/>
          </a:xfrm>
          <a:prstGeom prst="rect">
            <a:avLst/>
          </a:prstGeom>
        </p:spPr>
      </p:pic>
      <p:pic>
        <p:nvPicPr>
          <p:cNvPr id="23" name="Picture 22">
            <a:extLst>
              <a:ext uri="{FF2B5EF4-FFF2-40B4-BE49-F238E27FC236}">
                <a16:creationId xmlns:a16="http://schemas.microsoft.com/office/drawing/2014/main" id="{02D56C0D-0435-EC0A-DA6D-9037FE999C89}"/>
              </a:ext>
            </a:extLst>
          </p:cNvPr>
          <p:cNvPicPr>
            <a:picLocks noChangeAspect="1"/>
          </p:cNvPicPr>
          <p:nvPr/>
        </p:nvPicPr>
        <p:blipFill>
          <a:blip r:embed="rId4"/>
          <a:stretch>
            <a:fillRect/>
          </a:stretch>
        </p:blipFill>
        <p:spPr>
          <a:xfrm>
            <a:off x="0" y="0"/>
            <a:ext cx="9144000" cy="5142807"/>
          </a:xfrm>
          <a:prstGeom prst="rect">
            <a:avLst/>
          </a:prstGeom>
        </p:spPr>
      </p:pic>
      <p:sp>
        <p:nvSpPr>
          <p:cNvPr id="4" name="TextBox 3">
            <a:extLst>
              <a:ext uri="{FF2B5EF4-FFF2-40B4-BE49-F238E27FC236}">
                <a16:creationId xmlns:a16="http://schemas.microsoft.com/office/drawing/2014/main" id="{138A4AEB-0804-A5E5-014E-CB7904682CF9}"/>
              </a:ext>
            </a:extLst>
          </p:cNvPr>
          <p:cNvSpPr txBox="1"/>
          <p:nvPr/>
        </p:nvSpPr>
        <p:spPr>
          <a:xfrm>
            <a:off x="292960" y="733140"/>
            <a:ext cx="4421886" cy="3416320"/>
          </a:xfrm>
          <a:prstGeom prst="rect">
            <a:avLst/>
          </a:prstGeom>
          <a:noFill/>
        </p:spPr>
        <p:txBody>
          <a:bodyPr wrap="square" rtlCol="0">
            <a:spAutoFit/>
          </a:bodyPr>
          <a:lstStyle/>
          <a:p>
            <a:endParaRPr lang="en-US" sz="1200" dirty="0">
              <a:solidFill>
                <a:schemeClr val="bg1"/>
              </a:solidFill>
            </a:endParaRPr>
          </a:p>
          <a:p>
            <a:pPr marL="285750" indent="-285750">
              <a:buFont typeface="Wingdings" panose="05000000000000000000" pitchFamily="2" charset="2"/>
              <a:buChar char="q"/>
            </a:pPr>
            <a:r>
              <a:rPr lang="en-US" sz="1200" b="1" u="sng" dirty="0">
                <a:solidFill>
                  <a:schemeClr val="bg1"/>
                </a:solidFill>
                <a:cs typeface="Times New Roman" panose="02020603050405020304" pitchFamily="18" charset="0"/>
              </a:rPr>
              <a:t>Observation</a:t>
            </a:r>
            <a:r>
              <a:rPr lang="en-US" sz="1200" b="1" dirty="0">
                <a:solidFill>
                  <a:schemeClr val="bg1"/>
                </a:solidFill>
                <a:cs typeface="Times New Roman" panose="02020603050405020304" pitchFamily="18" charset="0"/>
              </a:rPr>
              <a:t>:</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Certain routes experience extremely high flight frequency.</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High-demand routes are likely major business or tourism corridors.</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Some routes contribute significantly to total airline operations.</a:t>
            </a:r>
          </a:p>
          <a:p>
            <a:endParaRPr lang="en-US" sz="1200" b="1" dirty="0">
              <a:solidFill>
                <a:schemeClr val="bg1"/>
              </a:solidFill>
              <a:cs typeface="Times New Roman" panose="02020603050405020304" pitchFamily="18" charset="0"/>
            </a:endParaRPr>
          </a:p>
          <a:p>
            <a:pPr marL="285750" indent="-285750">
              <a:lnSpc>
                <a:spcPct val="150000"/>
              </a:lnSpc>
              <a:buFont typeface="Wingdings" panose="05000000000000000000" pitchFamily="2" charset="2"/>
              <a:buChar char="q"/>
            </a:pPr>
            <a:r>
              <a:rPr lang="en-US" sz="1200" b="1" u="sng" dirty="0">
                <a:solidFill>
                  <a:schemeClr val="bg1"/>
                </a:solidFill>
                <a:cs typeface="Times New Roman" panose="02020603050405020304" pitchFamily="18" charset="0"/>
              </a:rPr>
              <a:t>Suggestion</a:t>
            </a:r>
            <a:r>
              <a:rPr lang="en-US" sz="1200" b="1" dirty="0">
                <a:solidFill>
                  <a:schemeClr val="bg1"/>
                </a:solidFill>
                <a:cs typeface="Times New Roman" panose="02020603050405020304" pitchFamily="18" charset="0"/>
              </a:rPr>
              <a:t>: </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Airlines should allocate larger aircraft on high-demand routes.</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Introduce additional flights during peak travel periods.</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Explore underserved profitable routes for expansion opportunities.</a:t>
            </a:r>
          </a:p>
          <a:p>
            <a:r>
              <a:rPr lang="en-US" sz="1200" dirty="0"/>
              <a:t> </a:t>
            </a:r>
            <a:endParaRPr lang="en-US" sz="1200" b="1" dirty="0">
              <a:solidFill>
                <a:schemeClr val="bg1"/>
              </a:solidFill>
              <a:cs typeface="Times New Roman" panose="02020603050405020304" pitchFamily="18" charset="0"/>
            </a:endParaRPr>
          </a:p>
          <a:p>
            <a:pPr marL="285750" indent="-285750">
              <a:lnSpc>
                <a:spcPct val="150000"/>
              </a:lnSpc>
              <a:buFont typeface="Wingdings" panose="05000000000000000000" pitchFamily="2" charset="2"/>
              <a:buChar char="q"/>
            </a:pPr>
            <a:r>
              <a:rPr lang="en-US" sz="1200" b="1" u="sng" dirty="0">
                <a:solidFill>
                  <a:schemeClr val="bg1"/>
                </a:solidFill>
                <a:cs typeface="Times New Roman" panose="02020603050405020304" pitchFamily="18" charset="0"/>
              </a:rPr>
              <a:t>Conclusion</a:t>
            </a:r>
            <a:r>
              <a:rPr lang="en-US" sz="1200" b="1" dirty="0">
                <a:solidFill>
                  <a:schemeClr val="bg1"/>
                </a:solidFill>
                <a:cs typeface="Times New Roman" panose="02020603050405020304" pitchFamily="18" charset="0"/>
              </a:rPr>
              <a:t>:</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Route analysis helps optimize network planning and improve operational efficiency..</a:t>
            </a:r>
          </a:p>
        </p:txBody>
      </p:sp>
      <p:sp>
        <p:nvSpPr>
          <p:cNvPr id="5" name="Text 0">
            <a:extLst>
              <a:ext uri="{FF2B5EF4-FFF2-40B4-BE49-F238E27FC236}">
                <a16:creationId xmlns:a16="http://schemas.microsoft.com/office/drawing/2014/main" id="{9D34D065-4036-E8E8-BAB6-417556EF5D50}"/>
              </a:ext>
            </a:extLst>
          </p:cNvPr>
          <p:cNvSpPr/>
          <p:nvPr/>
        </p:nvSpPr>
        <p:spPr>
          <a:xfrm>
            <a:off x="633278" y="256550"/>
            <a:ext cx="7960924" cy="737490"/>
          </a:xfrm>
          <a:prstGeom prst="rect">
            <a:avLst/>
          </a:prstGeom>
          <a:noFill/>
          <a:ln/>
        </p:spPr>
        <p:txBody>
          <a:bodyPr wrap="square" lIns="0" tIns="0" rIns="0" bIns="0" rtlCol="0" anchor="ctr"/>
          <a:lstStyle/>
          <a:p>
            <a:pPr algn="ctr"/>
            <a:r>
              <a:rPr lang="en-US" sz="2400" b="1" u="sng" dirty="0">
                <a:solidFill>
                  <a:schemeClr val="bg1"/>
                </a:solidFill>
                <a:highlight>
                  <a:srgbClr val="000000"/>
                </a:highlight>
                <a:latin typeface="Algerian" panose="04020705040A02060702" pitchFamily="82" charset="0"/>
                <a:cs typeface="Times New Roman" panose="02020603050405020304" pitchFamily="18" charset="0"/>
              </a:rPr>
              <a:t>KPI-6: Top Routes based on number of flights</a:t>
            </a:r>
          </a:p>
          <a:p>
            <a:pPr algn="ctr"/>
            <a:endParaRPr lang="en-US" sz="2400" b="1" u="sng" dirty="0">
              <a:solidFill>
                <a:schemeClr val="bg1"/>
              </a:solidFill>
              <a:highlight>
                <a:srgbClr val="000000"/>
              </a:highlight>
              <a:latin typeface="Algerian" panose="04020705040A02060702" pitchFamily="82" charset="0"/>
              <a:cs typeface="Times New Roman" panose="02020603050405020304" pitchFamily="18" charset="0"/>
            </a:endParaRPr>
          </a:p>
        </p:txBody>
      </p:sp>
      <p:graphicFrame>
        <p:nvGraphicFramePr>
          <p:cNvPr id="3" name="Chart 2">
            <a:extLst>
              <a:ext uri="{FF2B5EF4-FFF2-40B4-BE49-F238E27FC236}">
                <a16:creationId xmlns:a16="http://schemas.microsoft.com/office/drawing/2014/main" id="{1DD0209F-2A55-4475-3BBD-7436F853694D}"/>
              </a:ext>
            </a:extLst>
          </p:cNvPr>
          <p:cNvGraphicFramePr>
            <a:graphicFrameLocks/>
          </p:cNvGraphicFramePr>
          <p:nvPr>
            <p:extLst>
              <p:ext uri="{D42A27DB-BD31-4B8C-83A1-F6EECF244321}">
                <p14:modId xmlns:p14="http://schemas.microsoft.com/office/powerpoint/2010/main" val="1687914439"/>
              </p:ext>
            </p:extLst>
          </p:nvPr>
        </p:nvGraphicFramePr>
        <p:xfrm>
          <a:off x="4572000" y="1089741"/>
          <a:ext cx="4475356" cy="2991605"/>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5897490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D23F1-C96B-E36C-0D92-C195FB7338B8}"/>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4104CA21-616F-F45E-A2A1-AF0D92798C89}"/>
              </a:ext>
            </a:extLst>
          </p:cNvPr>
          <p:cNvPicPr>
            <a:picLocks noChangeAspect="1"/>
          </p:cNvPicPr>
          <p:nvPr/>
        </p:nvPicPr>
        <p:blipFill>
          <a:blip r:embed="rId3"/>
          <a:stretch>
            <a:fillRect/>
          </a:stretch>
        </p:blipFill>
        <p:spPr>
          <a:xfrm>
            <a:off x="0" y="0"/>
            <a:ext cx="9144000" cy="5143500"/>
          </a:xfrm>
          <a:prstGeom prst="rect">
            <a:avLst/>
          </a:prstGeom>
        </p:spPr>
      </p:pic>
      <p:pic>
        <p:nvPicPr>
          <p:cNvPr id="23" name="Picture 22">
            <a:extLst>
              <a:ext uri="{FF2B5EF4-FFF2-40B4-BE49-F238E27FC236}">
                <a16:creationId xmlns:a16="http://schemas.microsoft.com/office/drawing/2014/main" id="{098090D8-917D-DCCC-C2F4-E5F7F02BBC12}"/>
              </a:ext>
            </a:extLst>
          </p:cNvPr>
          <p:cNvPicPr>
            <a:picLocks noChangeAspect="1"/>
          </p:cNvPicPr>
          <p:nvPr/>
        </p:nvPicPr>
        <p:blipFill>
          <a:blip r:embed="rId4"/>
          <a:stretch>
            <a:fillRect/>
          </a:stretch>
        </p:blipFill>
        <p:spPr>
          <a:xfrm>
            <a:off x="0" y="0"/>
            <a:ext cx="9144000" cy="5142807"/>
          </a:xfrm>
          <a:prstGeom prst="rect">
            <a:avLst/>
          </a:prstGeom>
        </p:spPr>
      </p:pic>
      <p:sp>
        <p:nvSpPr>
          <p:cNvPr id="4" name="TextBox 3">
            <a:extLst>
              <a:ext uri="{FF2B5EF4-FFF2-40B4-BE49-F238E27FC236}">
                <a16:creationId xmlns:a16="http://schemas.microsoft.com/office/drawing/2014/main" id="{B1DC8539-D033-A3E1-ADD1-2C3475B395F2}"/>
              </a:ext>
            </a:extLst>
          </p:cNvPr>
          <p:cNvSpPr txBox="1"/>
          <p:nvPr/>
        </p:nvSpPr>
        <p:spPr>
          <a:xfrm>
            <a:off x="289499" y="642545"/>
            <a:ext cx="4282501" cy="3416320"/>
          </a:xfrm>
          <a:prstGeom prst="rect">
            <a:avLst/>
          </a:prstGeom>
          <a:noFill/>
        </p:spPr>
        <p:txBody>
          <a:bodyPr wrap="square" rtlCol="0">
            <a:spAutoFit/>
          </a:bodyPr>
          <a:lstStyle/>
          <a:p>
            <a:endParaRPr lang="en-US" sz="1200" dirty="0">
              <a:solidFill>
                <a:schemeClr val="bg1"/>
              </a:solidFill>
            </a:endParaRPr>
          </a:p>
          <a:p>
            <a:endParaRPr lang="en-US" sz="1200" b="1" u="sng" dirty="0">
              <a:solidFill>
                <a:schemeClr val="bg1"/>
              </a:solidFill>
              <a:cs typeface="Times New Roman" panose="02020603050405020304" pitchFamily="18" charset="0"/>
            </a:endParaRPr>
          </a:p>
          <a:p>
            <a:pPr marL="285750" indent="-285750">
              <a:buFont typeface="Wingdings" panose="05000000000000000000" pitchFamily="2" charset="2"/>
              <a:buChar char="q"/>
            </a:pPr>
            <a:r>
              <a:rPr lang="en-US" sz="1200" b="1" u="sng" dirty="0">
                <a:solidFill>
                  <a:schemeClr val="bg1"/>
                </a:solidFill>
                <a:cs typeface="Times New Roman" panose="02020603050405020304" pitchFamily="18" charset="0"/>
              </a:rPr>
              <a:t>Observation</a:t>
            </a:r>
            <a:r>
              <a:rPr lang="en-US" sz="1200" b="1" dirty="0">
                <a:solidFill>
                  <a:schemeClr val="bg1"/>
                </a:solidFill>
                <a:cs typeface="Times New Roman" panose="02020603050405020304" pitchFamily="18" charset="0"/>
              </a:rPr>
              <a:t>:</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Weekend load factors may differ significantly from weekdays.</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Leisure travel tends to increase during weekends.</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Business travel contributes more during weekdays.</a:t>
            </a:r>
          </a:p>
          <a:p>
            <a:endParaRPr lang="en-US" sz="1200" b="1" dirty="0">
              <a:solidFill>
                <a:schemeClr val="bg1"/>
              </a:solidFill>
              <a:cs typeface="Times New Roman" panose="02020603050405020304" pitchFamily="18" charset="0"/>
            </a:endParaRPr>
          </a:p>
          <a:p>
            <a:pPr marL="285750" indent="-285750">
              <a:lnSpc>
                <a:spcPct val="150000"/>
              </a:lnSpc>
              <a:buFont typeface="Wingdings" panose="05000000000000000000" pitchFamily="2" charset="2"/>
              <a:buChar char="q"/>
            </a:pPr>
            <a:r>
              <a:rPr lang="en-US" sz="1200" b="1" u="sng" dirty="0">
                <a:solidFill>
                  <a:schemeClr val="bg1"/>
                </a:solidFill>
                <a:cs typeface="Times New Roman" panose="02020603050405020304" pitchFamily="18" charset="0"/>
              </a:rPr>
              <a:t>Suggestion</a:t>
            </a:r>
            <a:r>
              <a:rPr lang="en-US" sz="1200" b="1" dirty="0">
                <a:solidFill>
                  <a:schemeClr val="bg1"/>
                </a:solidFill>
                <a:cs typeface="Times New Roman" panose="02020603050405020304" pitchFamily="18" charset="0"/>
              </a:rPr>
              <a:t>: </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Introduce weekend vacation packages and special fares.</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Adjust pricing dynamically between weekdays and weekends.</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Schedule business-focused flights during weekdays.</a:t>
            </a:r>
          </a:p>
          <a:p>
            <a:r>
              <a:rPr lang="en-US" sz="1200" b="1" dirty="0">
                <a:solidFill>
                  <a:schemeClr val="bg1"/>
                </a:solidFill>
                <a:cs typeface="Times New Roman" panose="02020603050405020304" pitchFamily="18" charset="0"/>
              </a:rPr>
              <a:t> </a:t>
            </a:r>
          </a:p>
          <a:p>
            <a:pPr marL="285750" indent="-285750">
              <a:lnSpc>
                <a:spcPct val="150000"/>
              </a:lnSpc>
              <a:buFont typeface="Wingdings" panose="05000000000000000000" pitchFamily="2" charset="2"/>
              <a:buChar char="q"/>
            </a:pPr>
            <a:r>
              <a:rPr lang="en-US" sz="1200" b="1" u="sng" dirty="0">
                <a:solidFill>
                  <a:schemeClr val="bg1"/>
                </a:solidFill>
                <a:cs typeface="Times New Roman" panose="02020603050405020304" pitchFamily="18" charset="0"/>
              </a:rPr>
              <a:t>Conclusion:</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Understanding passenger behavior across weekdays and weekends improves revenue management strategies.</a:t>
            </a:r>
          </a:p>
        </p:txBody>
      </p:sp>
      <p:sp>
        <p:nvSpPr>
          <p:cNvPr id="5" name="Text 0">
            <a:extLst>
              <a:ext uri="{FF2B5EF4-FFF2-40B4-BE49-F238E27FC236}">
                <a16:creationId xmlns:a16="http://schemas.microsoft.com/office/drawing/2014/main" id="{FF912057-783B-6E86-182C-B54DA2319BD4}"/>
              </a:ext>
            </a:extLst>
          </p:cNvPr>
          <p:cNvSpPr/>
          <p:nvPr/>
        </p:nvSpPr>
        <p:spPr>
          <a:xfrm>
            <a:off x="451556" y="120433"/>
            <a:ext cx="7960924" cy="423673"/>
          </a:xfrm>
          <a:prstGeom prst="rect">
            <a:avLst/>
          </a:prstGeom>
          <a:noFill/>
          <a:ln/>
        </p:spPr>
        <p:txBody>
          <a:bodyPr wrap="square" lIns="0" tIns="0" rIns="0" bIns="0" rtlCol="0" anchor="ctr"/>
          <a:lstStyle/>
          <a:p>
            <a:pPr algn="ctr"/>
            <a:r>
              <a:rPr lang="en-US" sz="2400" b="1" u="sng" dirty="0">
                <a:solidFill>
                  <a:schemeClr val="bg1"/>
                </a:solidFill>
                <a:highlight>
                  <a:srgbClr val="000000"/>
                </a:highlight>
                <a:latin typeface="Algerian" panose="04020705040A02060702" pitchFamily="82" charset="0"/>
                <a:cs typeface="Times New Roman" panose="02020603050405020304" pitchFamily="18" charset="0"/>
              </a:rPr>
              <a:t>KPI-7: Weekend vs Weekday Load Factor</a:t>
            </a:r>
          </a:p>
        </p:txBody>
      </p:sp>
      <p:pic>
        <p:nvPicPr>
          <p:cNvPr id="2" name="Picture 1">
            <a:extLst>
              <a:ext uri="{FF2B5EF4-FFF2-40B4-BE49-F238E27FC236}">
                <a16:creationId xmlns:a16="http://schemas.microsoft.com/office/drawing/2014/main" id="{204842F2-92AD-24F5-5CE6-8A2134B7545B}"/>
              </a:ext>
            </a:extLst>
          </p:cNvPr>
          <p:cNvPicPr>
            <a:picLocks noChangeAspect="1"/>
          </p:cNvPicPr>
          <p:nvPr/>
        </p:nvPicPr>
        <p:blipFill>
          <a:blip r:embed="rId5"/>
          <a:stretch>
            <a:fillRect/>
          </a:stretch>
        </p:blipFill>
        <p:spPr>
          <a:xfrm>
            <a:off x="4363842" y="1084635"/>
            <a:ext cx="4629018" cy="3026386"/>
          </a:xfrm>
          <a:prstGeom prst="rect">
            <a:avLst/>
          </a:prstGeom>
        </p:spPr>
      </p:pic>
    </p:spTree>
    <p:extLst>
      <p:ext uri="{BB962C8B-B14F-4D97-AF65-F5344CB8AC3E}">
        <p14:creationId xmlns:p14="http://schemas.microsoft.com/office/powerpoint/2010/main" val="1163296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9C9D8-84CA-4FFC-43FF-035EDB0F4623}"/>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9E664B1A-3761-B8E4-5632-F7D1D1B8895A}"/>
              </a:ext>
            </a:extLst>
          </p:cNvPr>
          <p:cNvPicPr>
            <a:picLocks noChangeAspect="1"/>
          </p:cNvPicPr>
          <p:nvPr/>
        </p:nvPicPr>
        <p:blipFill>
          <a:blip r:embed="rId3"/>
          <a:stretch>
            <a:fillRect/>
          </a:stretch>
        </p:blipFill>
        <p:spPr>
          <a:xfrm>
            <a:off x="0" y="0"/>
            <a:ext cx="9144000" cy="5143500"/>
          </a:xfrm>
          <a:prstGeom prst="rect">
            <a:avLst/>
          </a:prstGeom>
        </p:spPr>
      </p:pic>
      <p:pic>
        <p:nvPicPr>
          <p:cNvPr id="23" name="Picture 22">
            <a:extLst>
              <a:ext uri="{FF2B5EF4-FFF2-40B4-BE49-F238E27FC236}">
                <a16:creationId xmlns:a16="http://schemas.microsoft.com/office/drawing/2014/main" id="{90CB3E50-1773-C66D-DF08-1F518233188D}"/>
              </a:ext>
            </a:extLst>
          </p:cNvPr>
          <p:cNvPicPr>
            <a:picLocks noChangeAspect="1"/>
          </p:cNvPicPr>
          <p:nvPr/>
        </p:nvPicPr>
        <p:blipFill>
          <a:blip r:embed="rId4"/>
          <a:stretch>
            <a:fillRect/>
          </a:stretch>
        </p:blipFill>
        <p:spPr>
          <a:xfrm>
            <a:off x="0" y="0"/>
            <a:ext cx="9144000" cy="5142807"/>
          </a:xfrm>
          <a:prstGeom prst="rect">
            <a:avLst/>
          </a:prstGeom>
        </p:spPr>
      </p:pic>
      <p:sp>
        <p:nvSpPr>
          <p:cNvPr id="4" name="TextBox 3">
            <a:extLst>
              <a:ext uri="{FF2B5EF4-FFF2-40B4-BE49-F238E27FC236}">
                <a16:creationId xmlns:a16="http://schemas.microsoft.com/office/drawing/2014/main" id="{7A9FF5F3-C794-9301-1D80-2903F9C1AA26}"/>
              </a:ext>
            </a:extLst>
          </p:cNvPr>
          <p:cNvSpPr txBox="1"/>
          <p:nvPr/>
        </p:nvSpPr>
        <p:spPr>
          <a:xfrm>
            <a:off x="260746" y="544106"/>
            <a:ext cx="4697830" cy="3600986"/>
          </a:xfrm>
          <a:prstGeom prst="rect">
            <a:avLst/>
          </a:prstGeom>
          <a:noFill/>
        </p:spPr>
        <p:txBody>
          <a:bodyPr wrap="square" rtlCol="0">
            <a:spAutoFit/>
          </a:bodyPr>
          <a:lstStyle/>
          <a:p>
            <a:endParaRPr lang="en-US" sz="1200" dirty="0">
              <a:solidFill>
                <a:schemeClr val="bg1"/>
              </a:solidFill>
            </a:endParaRPr>
          </a:p>
          <a:p>
            <a:endParaRPr lang="en-US" sz="1200" b="1" u="sng" dirty="0">
              <a:solidFill>
                <a:schemeClr val="bg1"/>
              </a:solidFill>
              <a:cs typeface="Times New Roman" panose="02020603050405020304" pitchFamily="18" charset="0"/>
            </a:endParaRPr>
          </a:p>
          <a:p>
            <a:pPr marL="285750" indent="-285750">
              <a:buFont typeface="Wingdings" panose="05000000000000000000" pitchFamily="2" charset="2"/>
              <a:buChar char="q"/>
            </a:pPr>
            <a:r>
              <a:rPr lang="en-US" sz="1200" b="1" u="sng" dirty="0">
                <a:solidFill>
                  <a:schemeClr val="bg1"/>
                </a:solidFill>
                <a:cs typeface="Times New Roman" panose="02020603050405020304" pitchFamily="18" charset="0"/>
              </a:rPr>
              <a:t>Observation</a:t>
            </a:r>
            <a:r>
              <a:rPr lang="en-US" sz="1200" b="1" dirty="0">
                <a:solidFill>
                  <a:schemeClr val="bg1"/>
                </a:solidFill>
                <a:cs typeface="Times New Roman" panose="02020603050405020304" pitchFamily="18" charset="0"/>
              </a:rPr>
              <a:t>:</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Short and medium-distance routes generally account for higher flight volumes.</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Long-distance routes may have fewer flights but higher operational costs.</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Passenger demand varies across different distance categories.</a:t>
            </a:r>
          </a:p>
          <a:p>
            <a:endParaRPr lang="en-US" sz="1200" b="1" dirty="0">
              <a:solidFill>
                <a:schemeClr val="bg1"/>
              </a:solidFill>
              <a:cs typeface="Times New Roman" panose="02020603050405020304" pitchFamily="18" charset="0"/>
            </a:endParaRPr>
          </a:p>
          <a:p>
            <a:pPr marL="285750" indent="-285750">
              <a:lnSpc>
                <a:spcPct val="150000"/>
              </a:lnSpc>
              <a:buFont typeface="Wingdings" panose="05000000000000000000" pitchFamily="2" charset="2"/>
              <a:buChar char="q"/>
            </a:pPr>
            <a:r>
              <a:rPr lang="en-US" sz="1200" b="1" u="sng" dirty="0">
                <a:solidFill>
                  <a:schemeClr val="bg1"/>
                </a:solidFill>
                <a:cs typeface="Times New Roman" panose="02020603050405020304" pitchFamily="18" charset="0"/>
              </a:rPr>
              <a:t>Suggestion</a:t>
            </a:r>
            <a:r>
              <a:rPr lang="en-US" sz="1200" b="1" dirty="0">
                <a:solidFill>
                  <a:schemeClr val="bg1"/>
                </a:solidFill>
                <a:cs typeface="Times New Roman" panose="02020603050405020304" pitchFamily="18" charset="0"/>
              </a:rPr>
              <a:t>: </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Optimize aircraft allocation according to route distance.</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Improve fuel efficiency for long-haul routes.</a:t>
            </a:r>
          </a:p>
          <a:p>
            <a:pPr marL="285750" indent="-285750">
              <a:buFont typeface="Arial" panose="020B0604020202020204" pitchFamily="34" charset="0"/>
              <a:buChar char="•"/>
            </a:pPr>
            <a:r>
              <a:rPr lang="en-US" sz="1200" b="1" dirty="0">
                <a:solidFill>
                  <a:schemeClr val="bg1"/>
                </a:solidFill>
                <a:cs typeface="Times New Roman" panose="02020603050405020304" pitchFamily="18" charset="0"/>
              </a:rPr>
              <a:t>Focus on increasing profitability in underperforming distance groups.</a:t>
            </a:r>
          </a:p>
          <a:p>
            <a:endParaRPr lang="en-US" sz="1200" b="1" dirty="0">
              <a:solidFill>
                <a:schemeClr val="bg1"/>
              </a:solidFill>
              <a:cs typeface="Times New Roman" panose="02020603050405020304" pitchFamily="18" charset="0"/>
            </a:endParaRPr>
          </a:p>
          <a:p>
            <a:pPr marL="285750" indent="-285750">
              <a:lnSpc>
                <a:spcPct val="150000"/>
              </a:lnSpc>
              <a:buFont typeface="Wingdings" panose="05000000000000000000" pitchFamily="2" charset="2"/>
              <a:buChar char="q"/>
            </a:pPr>
            <a:r>
              <a:rPr lang="en-US" sz="1200" b="1" dirty="0">
                <a:solidFill>
                  <a:schemeClr val="bg1"/>
                </a:solidFill>
                <a:cs typeface="Times New Roman" panose="02020603050405020304" pitchFamily="18" charset="0"/>
              </a:rPr>
              <a:t>Conclusion:</a:t>
            </a:r>
          </a:p>
          <a:p>
            <a:r>
              <a:rPr lang="en-US" sz="1200" dirty="0"/>
              <a:t>* </a:t>
            </a:r>
            <a:r>
              <a:rPr lang="en-US" sz="1200" b="1" dirty="0">
                <a:solidFill>
                  <a:schemeClr val="bg1"/>
                </a:solidFill>
                <a:cs typeface="Times New Roman" panose="02020603050405020304" pitchFamily="18" charset="0"/>
              </a:rPr>
              <a:t>Distance group analysis supports better fleet utilization and route          planning.</a:t>
            </a:r>
          </a:p>
        </p:txBody>
      </p:sp>
      <p:sp>
        <p:nvSpPr>
          <p:cNvPr id="5" name="Text 0">
            <a:extLst>
              <a:ext uri="{FF2B5EF4-FFF2-40B4-BE49-F238E27FC236}">
                <a16:creationId xmlns:a16="http://schemas.microsoft.com/office/drawing/2014/main" id="{D6117748-B506-349F-D47E-26A32B032FB8}"/>
              </a:ext>
            </a:extLst>
          </p:cNvPr>
          <p:cNvSpPr/>
          <p:nvPr/>
        </p:nvSpPr>
        <p:spPr>
          <a:xfrm>
            <a:off x="451556" y="120433"/>
            <a:ext cx="7960924" cy="423673"/>
          </a:xfrm>
          <a:prstGeom prst="rect">
            <a:avLst/>
          </a:prstGeom>
          <a:noFill/>
          <a:ln/>
        </p:spPr>
        <p:txBody>
          <a:bodyPr wrap="square" lIns="0" tIns="0" rIns="0" bIns="0" rtlCol="0" anchor="ctr"/>
          <a:lstStyle/>
          <a:p>
            <a:pPr algn="ctr"/>
            <a:r>
              <a:rPr lang="en-US" sz="2400" b="1" u="sng" dirty="0">
                <a:solidFill>
                  <a:schemeClr val="bg1"/>
                </a:solidFill>
                <a:highlight>
                  <a:srgbClr val="000000"/>
                </a:highlight>
                <a:latin typeface="Algerian" panose="04020705040A02060702" pitchFamily="82" charset="0"/>
                <a:cs typeface="Times New Roman" panose="02020603050405020304" pitchFamily="18" charset="0"/>
              </a:rPr>
              <a:t>KPI-8: Flights based on distance group</a:t>
            </a:r>
          </a:p>
        </p:txBody>
      </p:sp>
      <p:graphicFrame>
        <p:nvGraphicFramePr>
          <p:cNvPr id="2" name="Chart 1">
            <a:extLst>
              <a:ext uri="{FF2B5EF4-FFF2-40B4-BE49-F238E27FC236}">
                <a16:creationId xmlns:a16="http://schemas.microsoft.com/office/drawing/2014/main" id="{5AF8E1F2-BD8A-C1B1-30C5-814CE5757A9E}"/>
              </a:ext>
            </a:extLst>
          </p:cNvPr>
          <p:cNvGraphicFramePr>
            <a:graphicFrameLocks/>
          </p:cNvGraphicFramePr>
          <p:nvPr>
            <p:extLst>
              <p:ext uri="{D42A27DB-BD31-4B8C-83A1-F6EECF244321}">
                <p14:modId xmlns:p14="http://schemas.microsoft.com/office/powerpoint/2010/main" val="2449895049"/>
              </p:ext>
            </p:extLst>
          </p:nvPr>
        </p:nvGraphicFramePr>
        <p:xfrm>
          <a:off x="4797225" y="1190001"/>
          <a:ext cx="4235261" cy="276280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2827406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a:extLst>
            <a:ext uri="{FF2B5EF4-FFF2-40B4-BE49-F238E27FC236}">
              <a16:creationId xmlns:a16="http://schemas.microsoft.com/office/drawing/2014/main" id="{8FE1BF89-2882-AE74-0B6F-3F1BC88E270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8340178-9F9E-39AB-416A-37BF6659BEC5}"/>
              </a:ext>
            </a:extLst>
          </p:cNvPr>
          <p:cNvPicPr>
            <a:picLocks noChangeAspect="1"/>
          </p:cNvPicPr>
          <p:nvPr/>
        </p:nvPicPr>
        <p:blipFill>
          <a:blip r:embed="rId3"/>
          <a:stretch>
            <a:fillRect/>
          </a:stretch>
        </p:blipFill>
        <p:spPr>
          <a:xfrm>
            <a:off x="0" y="0"/>
            <a:ext cx="9144000" cy="5143500"/>
          </a:xfrm>
          <a:prstGeom prst="rect">
            <a:avLst/>
          </a:prstGeom>
        </p:spPr>
      </p:pic>
      <p:pic>
        <p:nvPicPr>
          <p:cNvPr id="9" name="Picture 8">
            <a:extLst>
              <a:ext uri="{FF2B5EF4-FFF2-40B4-BE49-F238E27FC236}">
                <a16:creationId xmlns:a16="http://schemas.microsoft.com/office/drawing/2014/main" id="{5347AADB-7846-7C41-B9D7-F2561185A543}"/>
              </a:ext>
            </a:extLst>
          </p:cNvPr>
          <p:cNvPicPr>
            <a:picLocks noChangeAspect="1"/>
          </p:cNvPicPr>
          <p:nvPr/>
        </p:nvPicPr>
        <p:blipFill>
          <a:blip r:embed="rId4"/>
          <a:stretch>
            <a:fillRect/>
          </a:stretch>
        </p:blipFill>
        <p:spPr>
          <a:xfrm>
            <a:off x="0" y="346"/>
            <a:ext cx="9144000" cy="5142807"/>
          </a:xfrm>
          <a:prstGeom prst="rect">
            <a:avLst/>
          </a:prstGeom>
        </p:spPr>
      </p:pic>
      <p:sp>
        <p:nvSpPr>
          <p:cNvPr id="2" name="Text 0">
            <a:extLst>
              <a:ext uri="{FF2B5EF4-FFF2-40B4-BE49-F238E27FC236}">
                <a16:creationId xmlns:a16="http://schemas.microsoft.com/office/drawing/2014/main" id="{D36FE531-E124-7397-72FB-CDE5A9BBFD9D}"/>
              </a:ext>
            </a:extLst>
          </p:cNvPr>
          <p:cNvSpPr/>
          <p:nvPr/>
        </p:nvSpPr>
        <p:spPr>
          <a:xfrm>
            <a:off x="685800" y="43149"/>
            <a:ext cx="7772400" cy="640080"/>
          </a:xfrm>
          <a:prstGeom prst="rect">
            <a:avLst/>
          </a:prstGeom>
          <a:noFill/>
          <a:ln/>
        </p:spPr>
        <p:txBody>
          <a:bodyPr wrap="square" lIns="0" tIns="0" rIns="0" bIns="0" rtlCol="0" anchor="ctr"/>
          <a:lstStyle/>
          <a:p>
            <a:pPr algn="ctr"/>
            <a:r>
              <a:rPr lang="en-US" sz="2000" b="1" u="sng" dirty="0">
                <a:solidFill>
                  <a:schemeClr val="bg1"/>
                </a:solidFill>
                <a:highlight>
                  <a:srgbClr val="000000"/>
                </a:highlight>
                <a:latin typeface="Algerian" panose="04020705040A02060702" pitchFamily="82" charset="0"/>
                <a:cs typeface="Arial" panose="020B0604020202020204" pitchFamily="34" charset="0"/>
              </a:rPr>
              <a:t>Flight Search Filter (Source to Destination):</a:t>
            </a:r>
            <a:endParaRPr lang="en-US" sz="2000" u="sng" dirty="0">
              <a:solidFill>
                <a:schemeClr val="bg1"/>
              </a:solidFill>
              <a:highlight>
                <a:srgbClr val="000000"/>
              </a:highlight>
              <a:latin typeface="Algerian" panose="04020705040A02060702" pitchFamily="82" charset="0"/>
              <a:cs typeface="Arial" panose="020B0604020202020204" pitchFamily="34" charset="0"/>
            </a:endParaRPr>
          </a:p>
          <a:p>
            <a:pPr algn="ctr"/>
            <a:r>
              <a:rPr lang="en-US" sz="2000" b="1" u="sng" dirty="0">
                <a:solidFill>
                  <a:schemeClr val="bg1"/>
                </a:solidFill>
                <a:highlight>
                  <a:srgbClr val="000000"/>
                </a:highlight>
                <a:latin typeface="Algerian" panose="04020705040A02060702" pitchFamily="82" charset="0"/>
                <a:cs typeface="Arial" panose="020B0604020202020204" pitchFamily="34" charset="0"/>
              </a:rPr>
              <a:t>(From-To City)</a:t>
            </a:r>
            <a:endParaRPr lang="en-US" sz="2000" u="sng" dirty="0">
              <a:solidFill>
                <a:schemeClr val="bg1"/>
              </a:solidFill>
              <a:highlight>
                <a:srgbClr val="000000"/>
              </a:highlight>
              <a:latin typeface="Algerian" panose="04020705040A02060702" pitchFamily="82" charset="0"/>
            </a:endParaRPr>
          </a:p>
        </p:txBody>
      </p:sp>
      <p:pic>
        <p:nvPicPr>
          <p:cNvPr id="3" name="Picture 2">
            <a:extLst>
              <a:ext uri="{FF2B5EF4-FFF2-40B4-BE49-F238E27FC236}">
                <a16:creationId xmlns:a16="http://schemas.microsoft.com/office/drawing/2014/main" id="{76915BEE-446D-FA61-4200-185DD1C56BA1}"/>
              </a:ext>
            </a:extLst>
          </p:cNvPr>
          <p:cNvPicPr>
            <a:picLocks noChangeAspect="1"/>
          </p:cNvPicPr>
          <p:nvPr/>
        </p:nvPicPr>
        <p:blipFill>
          <a:blip r:embed="rId5"/>
          <a:stretch>
            <a:fillRect/>
          </a:stretch>
        </p:blipFill>
        <p:spPr>
          <a:xfrm>
            <a:off x="313401" y="683229"/>
            <a:ext cx="8681915" cy="4417122"/>
          </a:xfrm>
          <a:prstGeom prst="rect">
            <a:avLst/>
          </a:prstGeom>
        </p:spPr>
      </p:pic>
    </p:spTree>
    <p:extLst>
      <p:ext uri="{BB962C8B-B14F-4D97-AF65-F5344CB8AC3E}">
        <p14:creationId xmlns:p14="http://schemas.microsoft.com/office/powerpoint/2010/main" val="19331848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a:extLst>
            <a:ext uri="{FF2B5EF4-FFF2-40B4-BE49-F238E27FC236}">
              <a16:creationId xmlns:a16="http://schemas.microsoft.com/office/drawing/2014/main" id="{4889F0DD-A03E-0023-199F-AF42DB1D8F3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6737775-3E5D-F142-40AE-CE48E4EC47B6}"/>
              </a:ext>
            </a:extLst>
          </p:cNvPr>
          <p:cNvSpPr/>
          <p:nvPr/>
        </p:nvSpPr>
        <p:spPr>
          <a:xfrm>
            <a:off x="640080" y="120433"/>
            <a:ext cx="7772400" cy="640080"/>
          </a:xfrm>
          <a:prstGeom prst="rect">
            <a:avLst/>
          </a:prstGeom>
          <a:noFill/>
          <a:ln/>
        </p:spPr>
        <p:txBody>
          <a:bodyPr wrap="square" lIns="0" tIns="0" rIns="0" bIns="0" rtlCol="0" anchor="ctr"/>
          <a:lstStyle/>
          <a:p>
            <a:pPr algn="ctr"/>
            <a:r>
              <a:rPr lang="en-US" sz="4000" b="1" dirty="0">
                <a:solidFill>
                  <a:schemeClr val="accent1">
                    <a:lumMod val="75000"/>
                  </a:schemeClr>
                </a:solidFill>
                <a:highlight>
                  <a:srgbClr val="C0C0C0"/>
                </a:highlight>
                <a:latin typeface="Algerian" panose="04020705040A02060702" pitchFamily="82" charset="0"/>
              </a:rPr>
              <a:t>Excel Dashboard</a:t>
            </a:r>
            <a:endParaRPr lang="en-US" sz="4000" dirty="0">
              <a:solidFill>
                <a:schemeClr val="accent1">
                  <a:lumMod val="75000"/>
                </a:schemeClr>
              </a:solidFill>
              <a:highlight>
                <a:srgbClr val="C0C0C0"/>
              </a:highlight>
              <a:latin typeface="Algerian" panose="04020705040A02060702" pitchFamily="82" charset="0"/>
            </a:endParaRPr>
          </a:p>
        </p:txBody>
      </p:sp>
      <p:pic>
        <p:nvPicPr>
          <p:cNvPr id="9" name="Picture 8">
            <a:extLst>
              <a:ext uri="{FF2B5EF4-FFF2-40B4-BE49-F238E27FC236}">
                <a16:creationId xmlns:a16="http://schemas.microsoft.com/office/drawing/2014/main" id="{EE4EA871-0E1F-2114-06DF-D60B1DEBB297}"/>
              </a:ext>
            </a:extLst>
          </p:cNvPr>
          <p:cNvPicPr>
            <a:picLocks noChangeAspect="1"/>
          </p:cNvPicPr>
          <p:nvPr/>
        </p:nvPicPr>
        <p:blipFill>
          <a:blip r:embed="rId3"/>
          <a:stretch>
            <a:fillRect/>
          </a:stretch>
        </p:blipFill>
        <p:spPr>
          <a:xfrm>
            <a:off x="1365142" y="120432"/>
            <a:ext cx="614799" cy="640081"/>
          </a:xfrm>
          <a:prstGeom prst="rect">
            <a:avLst/>
          </a:prstGeom>
        </p:spPr>
      </p:pic>
      <p:pic>
        <p:nvPicPr>
          <p:cNvPr id="10" name="Picture 9">
            <a:extLst>
              <a:ext uri="{FF2B5EF4-FFF2-40B4-BE49-F238E27FC236}">
                <a16:creationId xmlns:a16="http://schemas.microsoft.com/office/drawing/2014/main" id="{AC653770-38F8-A1FA-6394-9F2EDD911C2E}"/>
              </a:ext>
            </a:extLst>
          </p:cNvPr>
          <p:cNvPicPr>
            <a:picLocks noChangeAspect="1"/>
          </p:cNvPicPr>
          <p:nvPr/>
        </p:nvPicPr>
        <p:blipFill>
          <a:blip r:embed="rId3"/>
          <a:stretch>
            <a:fillRect/>
          </a:stretch>
        </p:blipFill>
        <p:spPr>
          <a:xfrm>
            <a:off x="7087069" y="120432"/>
            <a:ext cx="614799" cy="640081"/>
          </a:xfrm>
          <a:prstGeom prst="rect">
            <a:avLst/>
          </a:prstGeom>
        </p:spPr>
      </p:pic>
      <p:pic>
        <p:nvPicPr>
          <p:cNvPr id="4" name="Picture 3">
            <a:extLst>
              <a:ext uri="{FF2B5EF4-FFF2-40B4-BE49-F238E27FC236}">
                <a16:creationId xmlns:a16="http://schemas.microsoft.com/office/drawing/2014/main" id="{3CD2D787-F6E1-3D29-41BF-E040071C2020}"/>
              </a:ext>
            </a:extLst>
          </p:cNvPr>
          <p:cNvPicPr>
            <a:picLocks noChangeAspect="1"/>
          </p:cNvPicPr>
          <p:nvPr/>
        </p:nvPicPr>
        <p:blipFill>
          <a:blip r:embed="rId4"/>
          <a:stretch>
            <a:fillRect/>
          </a:stretch>
        </p:blipFill>
        <p:spPr>
          <a:xfrm>
            <a:off x="0" y="760513"/>
            <a:ext cx="9143999" cy="4382987"/>
          </a:xfrm>
          <a:prstGeom prst="rect">
            <a:avLst/>
          </a:prstGeom>
        </p:spPr>
      </p:pic>
    </p:spTree>
    <p:extLst>
      <p:ext uri="{BB962C8B-B14F-4D97-AF65-F5344CB8AC3E}">
        <p14:creationId xmlns:p14="http://schemas.microsoft.com/office/powerpoint/2010/main" val="23180487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a:extLst>
            <a:ext uri="{FF2B5EF4-FFF2-40B4-BE49-F238E27FC236}">
              <a16:creationId xmlns:a16="http://schemas.microsoft.com/office/drawing/2014/main" id="{E22F2BFD-4E3C-20DA-0E58-6128D21F49E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1074A6D-E693-449E-5B85-FBA20860920D}"/>
              </a:ext>
            </a:extLst>
          </p:cNvPr>
          <p:cNvSpPr/>
          <p:nvPr/>
        </p:nvSpPr>
        <p:spPr>
          <a:xfrm>
            <a:off x="640080" y="120433"/>
            <a:ext cx="7772400" cy="640080"/>
          </a:xfrm>
          <a:prstGeom prst="rect">
            <a:avLst/>
          </a:prstGeom>
          <a:noFill/>
          <a:ln/>
        </p:spPr>
        <p:txBody>
          <a:bodyPr wrap="square" lIns="0" tIns="0" rIns="0" bIns="0" rtlCol="0" anchor="ctr"/>
          <a:lstStyle/>
          <a:p>
            <a:pPr algn="ctr"/>
            <a:r>
              <a:rPr lang="en-US" sz="4000" b="1" dirty="0">
                <a:solidFill>
                  <a:schemeClr val="accent1">
                    <a:lumMod val="75000"/>
                  </a:schemeClr>
                </a:solidFill>
                <a:highlight>
                  <a:srgbClr val="C0C0C0"/>
                </a:highlight>
                <a:latin typeface="Algerian" panose="04020705040A02060702" pitchFamily="82" charset="0"/>
              </a:rPr>
              <a:t>TABLEAU Dashboard</a:t>
            </a:r>
            <a:endParaRPr lang="en-US" sz="4000" dirty="0">
              <a:solidFill>
                <a:schemeClr val="accent1">
                  <a:lumMod val="75000"/>
                </a:schemeClr>
              </a:solidFill>
              <a:highlight>
                <a:srgbClr val="C0C0C0"/>
              </a:highlight>
              <a:latin typeface="Algerian" panose="04020705040A02060702" pitchFamily="82" charset="0"/>
            </a:endParaRPr>
          </a:p>
        </p:txBody>
      </p:sp>
      <p:pic>
        <p:nvPicPr>
          <p:cNvPr id="4" name="Picture 3">
            <a:extLst>
              <a:ext uri="{FF2B5EF4-FFF2-40B4-BE49-F238E27FC236}">
                <a16:creationId xmlns:a16="http://schemas.microsoft.com/office/drawing/2014/main" id="{DA15EE0D-70B4-57C8-29FA-C2D450850EFB}"/>
              </a:ext>
            </a:extLst>
          </p:cNvPr>
          <p:cNvPicPr>
            <a:picLocks noChangeAspect="1"/>
          </p:cNvPicPr>
          <p:nvPr/>
        </p:nvPicPr>
        <p:blipFill>
          <a:blip r:embed="rId3"/>
          <a:stretch>
            <a:fillRect/>
          </a:stretch>
        </p:blipFill>
        <p:spPr>
          <a:xfrm>
            <a:off x="989970" y="120433"/>
            <a:ext cx="657462" cy="640080"/>
          </a:xfrm>
          <a:prstGeom prst="rect">
            <a:avLst/>
          </a:prstGeom>
        </p:spPr>
      </p:pic>
      <p:pic>
        <p:nvPicPr>
          <p:cNvPr id="5" name="Picture 4">
            <a:extLst>
              <a:ext uri="{FF2B5EF4-FFF2-40B4-BE49-F238E27FC236}">
                <a16:creationId xmlns:a16="http://schemas.microsoft.com/office/drawing/2014/main" id="{58B539BA-DF07-C285-C125-F0CA49D5F641}"/>
              </a:ext>
            </a:extLst>
          </p:cNvPr>
          <p:cNvPicPr>
            <a:picLocks noChangeAspect="1"/>
          </p:cNvPicPr>
          <p:nvPr/>
        </p:nvPicPr>
        <p:blipFill>
          <a:blip r:embed="rId3"/>
          <a:stretch>
            <a:fillRect/>
          </a:stretch>
        </p:blipFill>
        <p:spPr>
          <a:xfrm>
            <a:off x="7429815" y="120433"/>
            <a:ext cx="657462" cy="640080"/>
          </a:xfrm>
          <a:prstGeom prst="rect">
            <a:avLst/>
          </a:prstGeom>
        </p:spPr>
      </p:pic>
      <p:pic>
        <p:nvPicPr>
          <p:cNvPr id="6" name="Picture 5">
            <a:extLst>
              <a:ext uri="{FF2B5EF4-FFF2-40B4-BE49-F238E27FC236}">
                <a16:creationId xmlns:a16="http://schemas.microsoft.com/office/drawing/2014/main" id="{AE4171B3-602A-04B0-2351-5A06EE3FF7C5}"/>
              </a:ext>
            </a:extLst>
          </p:cNvPr>
          <p:cNvPicPr>
            <a:picLocks noChangeAspect="1"/>
          </p:cNvPicPr>
          <p:nvPr/>
        </p:nvPicPr>
        <p:blipFill>
          <a:blip r:embed="rId4"/>
          <a:stretch>
            <a:fillRect/>
          </a:stretch>
        </p:blipFill>
        <p:spPr>
          <a:xfrm>
            <a:off x="0" y="760513"/>
            <a:ext cx="9144000" cy="4382987"/>
          </a:xfrm>
          <a:prstGeom prst="rect">
            <a:avLst/>
          </a:prstGeom>
        </p:spPr>
      </p:pic>
    </p:spTree>
    <p:extLst>
      <p:ext uri="{BB962C8B-B14F-4D97-AF65-F5344CB8AC3E}">
        <p14:creationId xmlns:p14="http://schemas.microsoft.com/office/powerpoint/2010/main" val="28510279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a:extLst>
            <a:ext uri="{FF2B5EF4-FFF2-40B4-BE49-F238E27FC236}">
              <a16:creationId xmlns:a16="http://schemas.microsoft.com/office/drawing/2014/main" id="{4B726A4C-36EF-0D70-AECF-D7A91863C04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87402EA-F984-17C6-D5A0-2164B3E187DA}"/>
              </a:ext>
            </a:extLst>
          </p:cNvPr>
          <p:cNvSpPr/>
          <p:nvPr/>
        </p:nvSpPr>
        <p:spPr>
          <a:xfrm>
            <a:off x="640080" y="120433"/>
            <a:ext cx="7772400" cy="640080"/>
          </a:xfrm>
          <a:prstGeom prst="rect">
            <a:avLst/>
          </a:prstGeom>
          <a:noFill/>
          <a:ln/>
        </p:spPr>
        <p:txBody>
          <a:bodyPr wrap="square" lIns="0" tIns="0" rIns="0" bIns="0" rtlCol="0" anchor="ctr"/>
          <a:lstStyle/>
          <a:p>
            <a:pPr algn="ctr"/>
            <a:r>
              <a:rPr lang="en-US" sz="4000" b="1" dirty="0">
                <a:solidFill>
                  <a:schemeClr val="accent1">
                    <a:lumMod val="75000"/>
                  </a:schemeClr>
                </a:solidFill>
                <a:highlight>
                  <a:srgbClr val="C0C0C0"/>
                </a:highlight>
                <a:latin typeface="Algerian" panose="04020705040A02060702" pitchFamily="82" charset="0"/>
              </a:rPr>
              <a:t>POWERBI Dashboard</a:t>
            </a:r>
            <a:endParaRPr lang="en-US" sz="4000" dirty="0">
              <a:solidFill>
                <a:schemeClr val="accent1">
                  <a:lumMod val="75000"/>
                </a:schemeClr>
              </a:solidFill>
              <a:highlight>
                <a:srgbClr val="C0C0C0"/>
              </a:highlight>
              <a:latin typeface="Algerian" panose="04020705040A02060702" pitchFamily="82" charset="0"/>
            </a:endParaRPr>
          </a:p>
        </p:txBody>
      </p:sp>
      <p:pic>
        <p:nvPicPr>
          <p:cNvPr id="6" name="Picture 5">
            <a:extLst>
              <a:ext uri="{FF2B5EF4-FFF2-40B4-BE49-F238E27FC236}">
                <a16:creationId xmlns:a16="http://schemas.microsoft.com/office/drawing/2014/main" id="{AB445AD9-1017-AC18-EBFC-894438E8E23C}"/>
              </a:ext>
            </a:extLst>
          </p:cNvPr>
          <p:cNvPicPr>
            <a:picLocks noChangeAspect="1"/>
          </p:cNvPicPr>
          <p:nvPr/>
        </p:nvPicPr>
        <p:blipFill>
          <a:blip r:embed="rId3"/>
          <a:stretch>
            <a:fillRect/>
          </a:stretch>
        </p:blipFill>
        <p:spPr>
          <a:xfrm>
            <a:off x="921957" y="120433"/>
            <a:ext cx="733032" cy="640080"/>
          </a:xfrm>
          <a:prstGeom prst="rect">
            <a:avLst/>
          </a:prstGeom>
        </p:spPr>
      </p:pic>
      <p:pic>
        <p:nvPicPr>
          <p:cNvPr id="7" name="Picture 6">
            <a:extLst>
              <a:ext uri="{FF2B5EF4-FFF2-40B4-BE49-F238E27FC236}">
                <a16:creationId xmlns:a16="http://schemas.microsoft.com/office/drawing/2014/main" id="{E537FA63-4BC5-74D4-AA37-CFCD4CA11FBE}"/>
              </a:ext>
            </a:extLst>
          </p:cNvPr>
          <p:cNvPicPr>
            <a:picLocks noChangeAspect="1"/>
          </p:cNvPicPr>
          <p:nvPr/>
        </p:nvPicPr>
        <p:blipFill>
          <a:blip r:embed="rId3"/>
          <a:stretch>
            <a:fillRect/>
          </a:stretch>
        </p:blipFill>
        <p:spPr>
          <a:xfrm>
            <a:off x="7414701" y="120433"/>
            <a:ext cx="733032" cy="640080"/>
          </a:xfrm>
          <a:prstGeom prst="rect">
            <a:avLst/>
          </a:prstGeom>
        </p:spPr>
      </p:pic>
      <p:pic>
        <p:nvPicPr>
          <p:cNvPr id="4" name="Picture 3">
            <a:extLst>
              <a:ext uri="{FF2B5EF4-FFF2-40B4-BE49-F238E27FC236}">
                <a16:creationId xmlns:a16="http://schemas.microsoft.com/office/drawing/2014/main" id="{275B31EF-65B3-BC0C-BBA5-F2458923596A}"/>
              </a:ext>
            </a:extLst>
          </p:cNvPr>
          <p:cNvPicPr>
            <a:picLocks noChangeAspect="1"/>
          </p:cNvPicPr>
          <p:nvPr/>
        </p:nvPicPr>
        <p:blipFill>
          <a:blip r:embed="rId4"/>
          <a:stretch>
            <a:fillRect/>
          </a:stretch>
        </p:blipFill>
        <p:spPr>
          <a:xfrm>
            <a:off x="0" y="761524"/>
            <a:ext cx="9143999" cy="4381976"/>
          </a:xfrm>
          <a:prstGeom prst="rect">
            <a:avLst/>
          </a:prstGeom>
        </p:spPr>
      </p:pic>
    </p:spTree>
    <p:extLst>
      <p:ext uri="{BB962C8B-B14F-4D97-AF65-F5344CB8AC3E}">
        <p14:creationId xmlns:p14="http://schemas.microsoft.com/office/powerpoint/2010/main" val="36101303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a:extLst>
            <a:ext uri="{FF2B5EF4-FFF2-40B4-BE49-F238E27FC236}">
              <a16:creationId xmlns:a16="http://schemas.microsoft.com/office/drawing/2014/main" id="{B321D91D-9CEF-35DF-D519-E8456140608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3D7A57E-5E5D-D684-4D40-33D994046771}"/>
              </a:ext>
            </a:extLst>
          </p:cNvPr>
          <p:cNvSpPr/>
          <p:nvPr/>
        </p:nvSpPr>
        <p:spPr>
          <a:xfrm>
            <a:off x="640080" y="120433"/>
            <a:ext cx="7772400" cy="423673"/>
          </a:xfrm>
          <a:prstGeom prst="rect">
            <a:avLst/>
          </a:prstGeom>
          <a:noFill/>
          <a:ln/>
        </p:spPr>
        <p:txBody>
          <a:bodyPr wrap="square" lIns="0" tIns="0" rIns="0" bIns="0" rtlCol="0" anchor="ctr"/>
          <a:lstStyle/>
          <a:p>
            <a:pPr algn="ctr"/>
            <a:r>
              <a:rPr lang="en-US" sz="3200" b="1" dirty="0" err="1">
                <a:solidFill>
                  <a:schemeClr val="accent1">
                    <a:lumMod val="75000"/>
                  </a:schemeClr>
                </a:solidFill>
                <a:highlight>
                  <a:srgbClr val="C0C0C0"/>
                </a:highlight>
                <a:latin typeface="Algerian" panose="04020705040A02060702" pitchFamily="82" charset="0"/>
              </a:rPr>
              <a:t>Mysql</a:t>
            </a:r>
            <a:r>
              <a:rPr lang="en-US" sz="3200" b="1" dirty="0">
                <a:solidFill>
                  <a:schemeClr val="accent1">
                    <a:lumMod val="75000"/>
                  </a:schemeClr>
                </a:solidFill>
                <a:highlight>
                  <a:srgbClr val="C0C0C0"/>
                </a:highlight>
                <a:latin typeface="Algerian" panose="04020705040A02060702" pitchFamily="82" charset="0"/>
              </a:rPr>
              <a:t> </a:t>
            </a:r>
            <a:r>
              <a:rPr lang="en-US" sz="3200" b="1" dirty="0" err="1">
                <a:solidFill>
                  <a:schemeClr val="accent1">
                    <a:lumMod val="75000"/>
                  </a:schemeClr>
                </a:solidFill>
                <a:highlight>
                  <a:srgbClr val="C0C0C0"/>
                </a:highlight>
                <a:latin typeface="Algerian" panose="04020705040A02060702" pitchFamily="82" charset="0"/>
              </a:rPr>
              <a:t>WOrk</a:t>
            </a:r>
            <a:endParaRPr lang="en-US" sz="3200" b="1" dirty="0">
              <a:solidFill>
                <a:schemeClr val="accent1">
                  <a:lumMod val="75000"/>
                </a:schemeClr>
              </a:solidFill>
              <a:highlight>
                <a:srgbClr val="C0C0C0"/>
              </a:highlight>
              <a:latin typeface="Algerian" panose="04020705040A02060702" pitchFamily="82" charset="0"/>
            </a:endParaRPr>
          </a:p>
        </p:txBody>
      </p:sp>
      <p:pic>
        <p:nvPicPr>
          <p:cNvPr id="4" name="Picture 3">
            <a:extLst>
              <a:ext uri="{FF2B5EF4-FFF2-40B4-BE49-F238E27FC236}">
                <a16:creationId xmlns:a16="http://schemas.microsoft.com/office/drawing/2014/main" id="{55D5318D-BE29-61B3-387C-0D7E2D9A2833}"/>
              </a:ext>
            </a:extLst>
          </p:cNvPr>
          <p:cNvPicPr>
            <a:picLocks noChangeAspect="1"/>
          </p:cNvPicPr>
          <p:nvPr/>
        </p:nvPicPr>
        <p:blipFill>
          <a:blip r:embed="rId3"/>
          <a:stretch>
            <a:fillRect/>
          </a:stretch>
        </p:blipFill>
        <p:spPr>
          <a:xfrm>
            <a:off x="2755292" y="120432"/>
            <a:ext cx="452161" cy="476573"/>
          </a:xfrm>
          <a:prstGeom prst="rect">
            <a:avLst/>
          </a:prstGeom>
        </p:spPr>
      </p:pic>
      <p:pic>
        <p:nvPicPr>
          <p:cNvPr id="5" name="Picture 4">
            <a:extLst>
              <a:ext uri="{FF2B5EF4-FFF2-40B4-BE49-F238E27FC236}">
                <a16:creationId xmlns:a16="http://schemas.microsoft.com/office/drawing/2014/main" id="{4B95E56D-9A83-B506-F119-96AB87834F14}"/>
              </a:ext>
            </a:extLst>
          </p:cNvPr>
          <p:cNvPicPr>
            <a:picLocks noChangeAspect="1"/>
          </p:cNvPicPr>
          <p:nvPr/>
        </p:nvPicPr>
        <p:blipFill>
          <a:blip r:embed="rId3"/>
          <a:stretch>
            <a:fillRect/>
          </a:stretch>
        </p:blipFill>
        <p:spPr>
          <a:xfrm>
            <a:off x="5873068" y="120433"/>
            <a:ext cx="452161" cy="476572"/>
          </a:xfrm>
          <a:prstGeom prst="rect">
            <a:avLst/>
          </a:prstGeom>
        </p:spPr>
      </p:pic>
      <p:sp>
        <p:nvSpPr>
          <p:cNvPr id="13" name="TextBox 12">
            <a:extLst>
              <a:ext uri="{FF2B5EF4-FFF2-40B4-BE49-F238E27FC236}">
                <a16:creationId xmlns:a16="http://schemas.microsoft.com/office/drawing/2014/main" id="{FBDAAC22-F2F1-2009-2A45-53CE6232EA19}"/>
              </a:ext>
            </a:extLst>
          </p:cNvPr>
          <p:cNvSpPr txBox="1"/>
          <p:nvPr/>
        </p:nvSpPr>
        <p:spPr>
          <a:xfrm>
            <a:off x="104078" y="735980"/>
            <a:ext cx="8950712" cy="4287087"/>
          </a:xfrm>
          <a:prstGeom prst="rect">
            <a:avLst/>
          </a:prstGeom>
          <a:noFill/>
          <a:ln>
            <a:solidFill>
              <a:schemeClr val="accent1">
                <a:lumMod val="50000"/>
              </a:schemeClr>
            </a:solidFill>
          </a:ln>
        </p:spPr>
        <p:txBody>
          <a:bodyPr wrap="square" rtlCol="0">
            <a:spAutoFit/>
          </a:bodyPr>
          <a:lstStyle/>
          <a:p>
            <a:endParaRPr lang="en-US" dirty="0"/>
          </a:p>
        </p:txBody>
      </p:sp>
      <p:pic>
        <p:nvPicPr>
          <p:cNvPr id="21" name="Picture 20">
            <a:extLst>
              <a:ext uri="{FF2B5EF4-FFF2-40B4-BE49-F238E27FC236}">
                <a16:creationId xmlns:a16="http://schemas.microsoft.com/office/drawing/2014/main" id="{DCA7D192-B2AA-E91B-9170-9707FCF53636}"/>
              </a:ext>
            </a:extLst>
          </p:cNvPr>
          <p:cNvPicPr>
            <a:picLocks noChangeAspect="1"/>
          </p:cNvPicPr>
          <p:nvPr/>
        </p:nvPicPr>
        <p:blipFill>
          <a:blip r:embed="rId4"/>
          <a:stretch>
            <a:fillRect/>
          </a:stretch>
        </p:blipFill>
        <p:spPr>
          <a:xfrm>
            <a:off x="104078" y="2847169"/>
            <a:ext cx="4467922" cy="2182224"/>
          </a:xfrm>
          <a:prstGeom prst="rect">
            <a:avLst/>
          </a:prstGeom>
          <a:ln>
            <a:solidFill>
              <a:schemeClr val="accent1">
                <a:lumMod val="50000"/>
              </a:schemeClr>
            </a:solidFill>
          </a:ln>
        </p:spPr>
      </p:pic>
      <p:pic>
        <p:nvPicPr>
          <p:cNvPr id="23" name="Picture 22">
            <a:extLst>
              <a:ext uri="{FF2B5EF4-FFF2-40B4-BE49-F238E27FC236}">
                <a16:creationId xmlns:a16="http://schemas.microsoft.com/office/drawing/2014/main" id="{B59F7AF6-2910-BBC0-BCCC-ADBEC7C8C001}"/>
              </a:ext>
            </a:extLst>
          </p:cNvPr>
          <p:cNvPicPr>
            <a:picLocks noChangeAspect="1"/>
          </p:cNvPicPr>
          <p:nvPr/>
        </p:nvPicPr>
        <p:blipFill>
          <a:blip r:embed="rId5"/>
          <a:stretch>
            <a:fillRect/>
          </a:stretch>
        </p:blipFill>
        <p:spPr>
          <a:xfrm>
            <a:off x="4586868" y="2834517"/>
            <a:ext cx="4482789" cy="2194875"/>
          </a:xfrm>
          <a:prstGeom prst="rect">
            <a:avLst/>
          </a:prstGeom>
          <a:ln>
            <a:solidFill>
              <a:schemeClr val="accent1">
                <a:lumMod val="50000"/>
              </a:schemeClr>
            </a:solidFill>
          </a:ln>
        </p:spPr>
      </p:pic>
      <p:pic>
        <p:nvPicPr>
          <p:cNvPr id="25" name="Picture 24">
            <a:extLst>
              <a:ext uri="{FF2B5EF4-FFF2-40B4-BE49-F238E27FC236}">
                <a16:creationId xmlns:a16="http://schemas.microsoft.com/office/drawing/2014/main" id="{EE4901A6-651E-CC82-639D-1F3F185863B8}"/>
              </a:ext>
            </a:extLst>
          </p:cNvPr>
          <p:cNvPicPr>
            <a:picLocks noChangeAspect="1"/>
          </p:cNvPicPr>
          <p:nvPr/>
        </p:nvPicPr>
        <p:blipFill>
          <a:blip r:embed="rId6"/>
          <a:stretch>
            <a:fillRect/>
          </a:stretch>
        </p:blipFill>
        <p:spPr>
          <a:xfrm>
            <a:off x="4586867" y="729654"/>
            <a:ext cx="4482791" cy="2104863"/>
          </a:xfrm>
          <a:prstGeom prst="rect">
            <a:avLst/>
          </a:prstGeom>
          <a:ln>
            <a:solidFill>
              <a:schemeClr val="accent1">
                <a:lumMod val="50000"/>
              </a:schemeClr>
            </a:solidFill>
          </a:ln>
        </p:spPr>
      </p:pic>
      <p:pic>
        <p:nvPicPr>
          <p:cNvPr id="27" name="Picture 26">
            <a:extLst>
              <a:ext uri="{FF2B5EF4-FFF2-40B4-BE49-F238E27FC236}">
                <a16:creationId xmlns:a16="http://schemas.microsoft.com/office/drawing/2014/main" id="{54DFFAC7-85C2-770B-46FE-3AC7DA6A1E8D}"/>
              </a:ext>
            </a:extLst>
          </p:cNvPr>
          <p:cNvPicPr>
            <a:picLocks noChangeAspect="1"/>
          </p:cNvPicPr>
          <p:nvPr/>
        </p:nvPicPr>
        <p:blipFill>
          <a:blip r:embed="rId7"/>
          <a:stretch>
            <a:fillRect/>
          </a:stretch>
        </p:blipFill>
        <p:spPr>
          <a:xfrm>
            <a:off x="104077" y="735980"/>
            <a:ext cx="4482791" cy="2104863"/>
          </a:xfrm>
          <a:prstGeom prst="rect">
            <a:avLst/>
          </a:prstGeom>
          <a:ln>
            <a:solidFill>
              <a:schemeClr val="accent1">
                <a:lumMod val="50000"/>
              </a:schemeClr>
            </a:solidFill>
          </a:ln>
        </p:spPr>
      </p:pic>
    </p:spTree>
    <p:extLst>
      <p:ext uri="{BB962C8B-B14F-4D97-AF65-F5344CB8AC3E}">
        <p14:creationId xmlns:p14="http://schemas.microsoft.com/office/powerpoint/2010/main" val="20761155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a:extLst>
            <a:ext uri="{FF2B5EF4-FFF2-40B4-BE49-F238E27FC236}">
              <a16:creationId xmlns:a16="http://schemas.microsoft.com/office/drawing/2014/main" id="{B444149D-6BE0-7660-AC67-62C08355067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9C0D763-9B5A-E78A-DE73-2A058B2B2D8E}"/>
              </a:ext>
            </a:extLst>
          </p:cNvPr>
          <p:cNvSpPr/>
          <p:nvPr/>
        </p:nvSpPr>
        <p:spPr>
          <a:xfrm>
            <a:off x="640080" y="120433"/>
            <a:ext cx="7772400" cy="423673"/>
          </a:xfrm>
          <a:prstGeom prst="rect">
            <a:avLst/>
          </a:prstGeom>
          <a:noFill/>
          <a:ln/>
        </p:spPr>
        <p:txBody>
          <a:bodyPr wrap="square" lIns="0" tIns="0" rIns="0" bIns="0" rtlCol="0" anchor="ctr"/>
          <a:lstStyle/>
          <a:p>
            <a:pPr algn="ctr"/>
            <a:r>
              <a:rPr lang="en-US" sz="3200" b="1" dirty="0" err="1">
                <a:solidFill>
                  <a:schemeClr val="accent1">
                    <a:lumMod val="75000"/>
                  </a:schemeClr>
                </a:solidFill>
                <a:highlight>
                  <a:srgbClr val="C0C0C0"/>
                </a:highlight>
                <a:latin typeface="Algerian" panose="04020705040A02060702" pitchFamily="82" charset="0"/>
              </a:rPr>
              <a:t>Mysql</a:t>
            </a:r>
            <a:r>
              <a:rPr lang="en-US" sz="3200" b="1" dirty="0">
                <a:solidFill>
                  <a:schemeClr val="accent1">
                    <a:lumMod val="75000"/>
                  </a:schemeClr>
                </a:solidFill>
                <a:highlight>
                  <a:srgbClr val="C0C0C0"/>
                </a:highlight>
                <a:latin typeface="Algerian" panose="04020705040A02060702" pitchFamily="82" charset="0"/>
              </a:rPr>
              <a:t> </a:t>
            </a:r>
            <a:r>
              <a:rPr lang="en-US" sz="3200" b="1" dirty="0" err="1">
                <a:solidFill>
                  <a:schemeClr val="accent1">
                    <a:lumMod val="75000"/>
                  </a:schemeClr>
                </a:solidFill>
                <a:highlight>
                  <a:srgbClr val="C0C0C0"/>
                </a:highlight>
                <a:latin typeface="Algerian" panose="04020705040A02060702" pitchFamily="82" charset="0"/>
              </a:rPr>
              <a:t>WOrk</a:t>
            </a:r>
            <a:endParaRPr lang="en-US" sz="3200" b="1" dirty="0">
              <a:solidFill>
                <a:schemeClr val="accent1">
                  <a:lumMod val="75000"/>
                </a:schemeClr>
              </a:solidFill>
              <a:highlight>
                <a:srgbClr val="C0C0C0"/>
              </a:highlight>
              <a:latin typeface="Algerian" panose="04020705040A02060702" pitchFamily="82" charset="0"/>
            </a:endParaRPr>
          </a:p>
        </p:txBody>
      </p:sp>
      <p:pic>
        <p:nvPicPr>
          <p:cNvPr id="4" name="Picture 3">
            <a:extLst>
              <a:ext uri="{FF2B5EF4-FFF2-40B4-BE49-F238E27FC236}">
                <a16:creationId xmlns:a16="http://schemas.microsoft.com/office/drawing/2014/main" id="{2AB4AA96-7467-657D-6799-0AEA4673B9F3}"/>
              </a:ext>
            </a:extLst>
          </p:cNvPr>
          <p:cNvPicPr>
            <a:picLocks noChangeAspect="1"/>
          </p:cNvPicPr>
          <p:nvPr/>
        </p:nvPicPr>
        <p:blipFill>
          <a:blip r:embed="rId3"/>
          <a:stretch>
            <a:fillRect/>
          </a:stretch>
        </p:blipFill>
        <p:spPr>
          <a:xfrm>
            <a:off x="2755292" y="120432"/>
            <a:ext cx="452161" cy="476573"/>
          </a:xfrm>
          <a:prstGeom prst="rect">
            <a:avLst/>
          </a:prstGeom>
        </p:spPr>
      </p:pic>
      <p:pic>
        <p:nvPicPr>
          <p:cNvPr id="5" name="Picture 4">
            <a:extLst>
              <a:ext uri="{FF2B5EF4-FFF2-40B4-BE49-F238E27FC236}">
                <a16:creationId xmlns:a16="http://schemas.microsoft.com/office/drawing/2014/main" id="{6109366F-E3A5-038A-2E04-99EAD9981E88}"/>
              </a:ext>
            </a:extLst>
          </p:cNvPr>
          <p:cNvPicPr>
            <a:picLocks noChangeAspect="1"/>
          </p:cNvPicPr>
          <p:nvPr/>
        </p:nvPicPr>
        <p:blipFill>
          <a:blip r:embed="rId3"/>
          <a:stretch>
            <a:fillRect/>
          </a:stretch>
        </p:blipFill>
        <p:spPr>
          <a:xfrm>
            <a:off x="5873068" y="120433"/>
            <a:ext cx="452161" cy="476572"/>
          </a:xfrm>
          <a:prstGeom prst="rect">
            <a:avLst/>
          </a:prstGeom>
        </p:spPr>
      </p:pic>
      <p:sp>
        <p:nvSpPr>
          <p:cNvPr id="13" name="TextBox 12">
            <a:extLst>
              <a:ext uri="{FF2B5EF4-FFF2-40B4-BE49-F238E27FC236}">
                <a16:creationId xmlns:a16="http://schemas.microsoft.com/office/drawing/2014/main" id="{9AC2343E-1158-5CB5-3299-6DDAAAE422F0}"/>
              </a:ext>
            </a:extLst>
          </p:cNvPr>
          <p:cNvSpPr txBox="1"/>
          <p:nvPr/>
        </p:nvSpPr>
        <p:spPr>
          <a:xfrm>
            <a:off x="104078" y="735980"/>
            <a:ext cx="8950712" cy="4287087"/>
          </a:xfrm>
          <a:prstGeom prst="rect">
            <a:avLst/>
          </a:prstGeom>
          <a:noFill/>
          <a:ln>
            <a:solidFill>
              <a:schemeClr val="accent1">
                <a:lumMod val="50000"/>
              </a:schemeClr>
            </a:solidFill>
          </a:ln>
        </p:spPr>
        <p:txBody>
          <a:bodyPr wrap="square" rtlCol="0">
            <a:spAutoFit/>
          </a:bodyPr>
          <a:lstStyle/>
          <a:p>
            <a:endParaRPr lang="en-US" dirty="0"/>
          </a:p>
        </p:txBody>
      </p:sp>
      <p:pic>
        <p:nvPicPr>
          <p:cNvPr id="6" name="Picture 5">
            <a:extLst>
              <a:ext uri="{FF2B5EF4-FFF2-40B4-BE49-F238E27FC236}">
                <a16:creationId xmlns:a16="http://schemas.microsoft.com/office/drawing/2014/main" id="{228E0428-5358-2B51-30A1-D730E513A0E4}"/>
              </a:ext>
            </a:extLst>
          </p:cNvPr>
          <p:cNvPicPr>
            <a:picLocks noChangeAspect="1"/>
          </p:cNvPicPr>
          <p:nvPr/>
        </p:nvPicPr>
        <p:blipFill>
          <a:blip r:embed="rId4"/>
          <a:stretch>
            <a:fillRect/>
          </a:stretch>
        </p:blipFill>
        <p:spPr>
          <a:xfrm>
            <a:off x="4155843" y="2810105"/>
            <a:ext cx="4917397" cy="2251731"/>
          </a:xfrm>
          <a:prstGeom prst="rect">
            <a:avLst/>
          </a:prstGeom>
          <a:ln>
            <a:solidFill>
              <a:schemeClr val="accent1">
                <a:lumMod val="50000"/>
              </a:schemeClr>
            </a:solidFill>
          </a:ln>
        </p:spPr>
      </p:pic>
      <p:pic>
        <p:nvPicPr>
          <p:cNvPr id="8" name="Picture 7">
            <a:extLst>
              <a:ext uri="{FF2B5EF4-FFF2-40B4-BE49-F238E27FC236}">
                <a16:creationId xmlns:a16="http://schemas.microsoft.com/office/drawing/2014/main" id="{96144DA7-EDFB-7E5D-D84D-A4C04D501D82}"/>
              </a:ext>
            </a:extLst>
          </p:cNvPr>
          <p:cNvPicPr>
            <a:picLocks noChangeAspect="1"/>
          </p:cNvPicPr>
          <p:nvPr/>
        </p:nvPicPr>
        <p:blipFill>
          <a:blip r:embed="rId5"/>
          <a:stretch>
            <a:fillRect/>
          </a:stretch>
        </p:blipFill>
        <p:spPr>
          <a:xfrm>
            <a:off x="4166785" y="735979"/>
            <a:ext cx="4906455" cy="2065832"/>
          </a:xfrm>
          <a:prstGeom prst="rect">
            <a:avLst/>
          </a:prstGeom>
          <a:ln>
            <a:solidFill>
              <a:schemeClr val="accent1">
                <a:lumMod val="50000"/>
              </a:schemeClr>
            </a:solidFill>
          </a:ln>
        </p:spPr>
      </p:pic>
      <p:pic>
        <p:nvPicPr>
          <p:cNvPr id="10" name="Picture 9">
            <a:extLst>
              <a:ext uri="{FF2B5EF4-FFF2-40B4-BE49-F238E27FC236}">
                <a16:creationId xmlns:a16="http://schemas.microsoft.com/office/drawing/2014/main" id="{FEA8D880-C667-29E7-6C14-AFAE8DFBC6BB}"/>
              </a:ext>
            </a:extLst>
          </p:cNvPr>
          <p:cNvPicPr>
            <a:picLocks noChangeAspect="1"/>
          </p:cNvPicPr>
          <p:nvPr/>
        </p:nvPicPr>
        <p:blipFill>
          <a:blip r:embed="rId6"/>
          <a:stretch>
            <a:fillRect/>
          </a:stretch>
        </p:blipFill>
        <p:spPr>
          <a:xfrm>
            <a:off x="93136" y="2801811"/>
            <a:ext cx="4062707" cy="2260026"/>
          </a:xfrm>
          <a:prstGeom prst="rect">
            <a:avLst/>
          </a:prstGeom>
          <a:ln>
            <a:solidFill>
              <a:schemeClr val="accent1">
                <a:lumMod val="50000"/>
              </a:schemeClr>
            </a:solidFill>
          </a:ln>
        </p:spPr>
      </p:pic>
      <p:pic>
        <p:nvPicPr>
          <p:cNvPr id="12" name="Picture 11">
            <a:extLst>
              <a:ext uri="{FF2B5EF4-FFF2-40B4-BE49-F238E27FC236}">
                <a16:creationId xmlns:a16="http://schemas.microsoft.com/office/drawing/2014/main" id="{CF645236-927C-C978-DE82-BBEE46DA3934}"/>
              </a:ext>
            </a:extLst>
          </p:cNvPr>
          <p:cNvPicPr>
            <a:picLocks noChangeAspect="1"/>
          </p:cNvPicPr>
          <p:nvPr/>
        </p:nvPicPr>
        <p:blipFill>
          <a:blip r:embed="rId7"/>
          <a:stretch>
            <a:fillRect/>
          </a:stretch>
        </p:blipFill>
        <p:spPr>
          <a:xfrm>
            <a:off x="85628" y="735979"/>
            <a:ext cx="4062707" cy="2074127"/>
          </a:xfrm>
          <a:prstGeom prst="rect">
            <a:avLst/>
          </a:prstGeom>
          <a:ln>
            <a:solidFill>
              <a:schemeClr val="accent1">
                <a:lumMod val="50000"/>
              </a:schemeClr>
            </a:solidFill>
          </a:ln>
        </p:spPr>
      </p:pic>
    </p:spTree>
    <p:extLst>
      <p:ext uri="{BB962C8B-B14F-4D97-AF65-F5344CB8AC3E}">
        <p14:creationId xmlns:p14="http://schemas.microsoft.com/office/powerpoint/2010/main" val="40074534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a:extLst>
            <a:ext uri="{FF2B5EF4-FFF2-40B4-BE49-F238E27FC236}">
              <a16:creationId xmlns:a16="http://schemas.microsoft.com/office/drawing/2014/main" id="{56A248DF-DAFA-D3F2-A098-373F8A96CA5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2CD3869-A7C7-FA7A-3843-0495DB69F246}"/>
              </a:ext>
            </a:extLst>
          </p:cNvPr>
          <p:cNvSpPr/>
          <p:nvPr/>
        </p:nvSpPr>
        <p:spPr>
          <a:xfrm>
            <a:off x="640080" y="120433"/>
            <a:ext cx="7772400" cy="423673"/>
          </a:xfrm>
          <a:prstGeom prst="rect">
            <a:avLst/>
          </a:prstGeom>
          <a:noFill/>
          <a:ln/>
        </p:spPr>
        <p:txBody>
          <a:bodyPr wrap="square" lIns="0" tIns="0" rIns="0" bIns="0" rtlCol="0" anchor="ctr"/>
          <a:lstStyle/>
          <a:p>
            <a:pPr algn="ctr"/>
            <a:r>
              <a:rPr lang="en-US" sz="3200" b="1" dirty="0" err="1">
                <a:solidFill>
                  <a:schemeClr val="accent1">
                    <a:lumMod val="75000"/>
                  </a:schemeClr>
                </a:solidFill>
                <a:highlight>
                  <a:srgbClr val="C0C0C0"/>
                </a:highlight>
                <a:latin typeface="Algerian" panose="04020705040A02060702" pitchFamily="82" charset="0"/>
              </a:rPr>
              <a:t>Mysql</a:t>
            </a:r>
            <a:r>
              <a:rPr lang="en-US" sz="3200" b="1" dirty="0">
                <a:solidFill>
                  <a:schemeClr val="accent1">
                    <a:lumMod val="75000"/>
                  </a:schemeClr>
                </a:solidFill>
                <a:highlight>
                  <a:srgbClr val="C0C0C0"/>
                </a:highlight>
                <a:latin typeface="Algerian" panose="04020705040A02060702" pitchFamily="82" charset="0"/>
              </a:rPr>
              <a:t> </a:t>
            </a:r>
            <a:r>
              <a:rPr lang="en-US" sz="3200" b="1" dirty="0" err="1">
                <a:solidFill>
                  <a:schemeClr val="accent1">
                    <a:lumMod val="75000"/>
                  </a:schemeClr>
                </a:solidFill>
                <a:highlight>
                  <a:srgbClr val="C0C0C0"/>
                </a:highlight>
                <a:latin typeface="Algerian" panose="04020705040A02060702" pitchFamily="82" charset="0"/>
              </a:rPr>
              <a:t>WOrk</a:t>
            </a:r>
            <a:endParaRPr lang="en-US" sz="3200" b="1" dirty="0">
              <a:solidFill>
                <a:schemeClr val="accent1">
                  <a:lumMod val="75000"/>
                </a:schemeClr>
              </a:solidFill>
              <a:highlight>
                <a:srgbClr val="C0C0C0"/>
              </a:highlight>
              <a:latin typeface="Algerian" panose="04020705040A02060702" pitchFamily="82" charset="0"/>
            </a:endParaRPr>
          </a:p>
        </p:txBody>
      </p:sp>
      <p:pic>
        <p:nvPicPr>
          <p:cNvPr id="4" name="Picture 3">
            <a:extLst>
              <a:ext uri="{FF2B5EF4-FFF2-40B4-BE49-F238E27FC236}">
                <a16:creationId xmlns:a16="http://schemas.microsoft.com/office/drawing/2014/main" id="{ADFB0B93-7CE9-2195-856A-4B37A048284F}"/>
              </a:ext>
            </a:extLst>
          </p:cNvPr>
          <p:cNvPicPr>
            <a:picLocks noChangeAspect="1"/>
          </p:cNvPicPr>
          <p:nvPr/>
        </p:nvPicPr>
        <p:blipFill>
          <a:blip r:embed="rId3"/>
          <a:stretch>
            <a:fillRect/>
          </a:stretch>
        </p:blipFill>
        <p:spPr>
          <a:xfrm>
            <a:off x="2755292" y="120432"/>
            <a:ext cx="452161" cy="476573"/>
          </a:xfrm>
          <a:prstGeom prst="rect">
            <a:avLst/>
          </a:prstGeom>
        </p:spPr>
      </p:pic>
      <p:pic>
        <p:nvPicPr>
          <p:cNvPr id="5" name="Picture 4">
            <a:extLst>
              <a:ext uri="{FF2B5EF4-FFF2-40B4-BE49-F238E27FC236}">
                <a16:creationId xmlns:a16="http://schemas.microsoft.com/office/drawing/2014/main" id="{6587B2D3-ACCF-99AC-1945-7552DDE3DB37}"/>
              </a:ext>
            </a:extLst>
          </p:cNvPr>
          <p:cNvPicPr>
            <a:picLocks noChangeAspect="1"/>
          </p:cNvPicPr>
          <p:nvPr/>
        </p:nvPicPr>
        <p:blipFill>
          <a:blip r:embed="rId3"/>
          <a:stretch>
            <a:fillRect/>
          </a:stretch>
        </p:blipFill>
        <p:spPr>
          <a:xfrm>
            <a:off x="5873068" y="120433"/>
            <a:ext cx="452161" cy="476572"/>
          </a:xfrm>
          <a:prstGeom prst="rect">
            <a:avLst/>
          </a:prstGeom>
        </p:spPr>
      </p:pic>
      <p:sp>
        <p:nvSpPr>
          <p:cNvPr id="13" name="TextBox 12">
            <a:extLst>
              <a:ext uri="{FF2B5EF4-FFF2-40B4-BE49-F238E27FC236}">
                <a16:creationId xmlns:a16="http://schemas.microsoft.com/office/drawing/2014/main" id="{A32E4C97-5527-75E0-6054-A86B2FF921B2}"/>
              </a:ext>
            </a:extLst>
          </p:cNvPr>
          <p:cNvSpPr txBox="1"/>
          <p:nvPr/>
        </p:nvSpPr>
        <p:spPr>
          <a:xfrm>
            <a:off x="104078" y="735980"/>
            <a:ext cx="8950712" cy="4287087"/>
          </a:xfrm>
          <a:prstGeom prst="rect">
            <a:avLst/>
          </a:prstGeom>
          <a:noFill/>
          <a:ln>
            <a:solidFill>
              <a:schemeClr val="accent1">
                <a:lumMod val="50000"/>
              </a:schemeClr>
            </a:solidFill>
          </a:ln>
        </p:spPr>
        <p:txBody>
          <a:bodyPr wrap="square" rtlCol="0">
            <a:spAutoFit/>
          </a:bodyPr>
          <a:lstStyle/>
          <a:p>
            <a:endParaRPr lang="en-US" dirty="0"/>
          </a:p>
        </p:txBody>
      </p:sp>
      <p:pic>
        <p:nvPicPr>
          <p:cNvPr id="7" name="Picture 6">
            <a:extLst>
              <a:ext uri="{FF2B5EF4-FFF2-40B4-BE49-F238E27FC236}">
                <a16:creationId xmlns:a16="http://schemas.microsoft.com/office/drawing/2014/main" id="{2049C5FE-2AB2-8EF9-05AF-33357B67A242}"/>
              </a:ext>
            </a:extLst>
          </p:cNvPr>
          <p:cNvPicPr>
            <a:picLocks noChangeAspect="1"/>
          </p:cNvPicPr>
          <p:nvPr/>
        </p:nvPicPr>
        <p:blipFill>
          <a:blip r:embed="rId4"/>
          <a:stretch>
            <a:fillRect/>
          </a:stretch>
        </p:blipFill>
        <p:spPr>
          <a:xfrm>
            <a:off x="4585006" y="2743199"/>
            <a:ext cx="4454916" cy="2279867"/>
          </a:xfrm>
          <a:prstGeom prst="rect">
            <a:avLst/>
          </a:prstGeom>
          <a:ln>
            <a:solidFill>
              <a:schemeClr val="accent1">
                <a:lumMod val="50000"/>
              </a:schemeClr>
            </a:solidFill>
          </a:ln>
        </p:spPr>
      </p:pic>
      <p:pic>
        <p:nvPicPr>
          <p:cNvPr id="11" name="Picture 10">
            <a:extLst>
              <a:ext uri="{FF2B5EF4-FFF2-40B4-BE49-F238E27FC236}">
                <a16:creationId xmlns:a16="http://schemas.microsoft.com/office/drawing/2014/main" id="{73A914D7-F386-6115-BB0B-61954AD89E02}"/>
              </a:ext>
            </a:extLst>
          </p:cNvPr>
          <p:cNvPicPr>
            <a:picLocks noChangeAspect="1"/>
          </p:cNvPicPr>
          <p:nvPr/>
        </p:nvPicPr>
        <p:blipFill>
          <a:blip r:embed="rId5"/>
          <a:stretch>
            <a:fillRect/>
          </a:stretch>
        </p:blipFill>
        <p:spPr>
          <a:xfrm>
            <a:off x="96644" y="2743200"/>
            <a:ext cx="4462351" cy="2279866"/>
          </a:xfrm>
          <a:prstGeom prst="rect">
            <a:avLst/>
          </a:prstGeom>
          <a:ln>
            <a:solidFill>
              <a:schemeClr val="accent1">
                <a:lumMod val="50000"/>
              </a:schemeClr>
            </a:solidFill>
          </a:ln>
        </p:spPr>
      </p:pic>
      <p:pic>
        <p:nvPicPr>
          <p:cNvPr id="15" name="Picture 14">
            <a:extLst>
              <a:ext uri="{FF2B5EF4-FFF2-40B4-BE49-F238E27FC236}">
                <a16:creationId xmlns:a16="http://schemas.microsoft.com/office/drawing/2014/main" id="{EE51AAE3-310F-15B6-6872-A08D7E5F48F4}"/>
              </a:ext>
            </a:extLst>
          </p:cNvPr>
          <p:cNvPicPr>
            <a:picLocks noChangeAspect="1"/>
          </p:cNvPicPr>
          <p:nvPr/>
        </p:nvPicPr>
        <p:blipFill>
          <a:blip r:embed="rId6"/>
          <a:stretch>
            <a:fillRect/>
          </a:stretch>
        </p:blipFill>
        <p:spPr>
          <a:xfrm>
            <a:off x="89209" y="735980"/>
            <a:ext cx="4469785" cy="2007220"/>
          </a:xfrm>
          <a:prstGeom prst="rect">
            <a:avLst/>
          </a:prstGeom>
          <a:ln>
            <a:solidFill>
              <a:schemeClr val="accent1">
                <a:lumMod val="50000"/>
              </a:schemeClr>
            </a:solidFill>
          </a:ln>
        </p:spPr>
      </p:pic>
      <p:pic>
        <p:nvPicPr>
          <p:cNvPr id="17" name="Picture 16">
            <a:extLst>
              <a:ext uri="{FF2B5EF4-FFF2-40B4-BE49-F238E27FC236}">
                <a16:creationId xmlns:a16="http://schemas.microsoft.com/office/drawing/2014/main" id="{90E4F83E-5E8B-F7CA-580D-9F21BCFBB935}"/>
              </a:ext>
            </a:extLst>
          </p:cNvPr>
          <p:cNvPicPr>
            <a:picLocks noChangeAspect="1"/>
          </p:cNvPicPr>
          <p:nvPr/>
        </p:nvPicPr>
        <p:blipFill>
          <a:blip r:embed="rId7"/>
          <a:stretch>
            <a:fillRect/>
          </a:stretch>
        </p:blipFill>
        <p:spPr>
          <a:xfrm>
            <a:off x="4573863" y="735980"/>
            <a:ext cx="4480927" cy="2007218"/>
          </a:xfrm>
          <a:prstGeom prst="rect">
            <a:avLst/>
          </a:prstGeom>
          <a:ln>
            <a:solidFill>
              <a:schemeClr val="accent1">
                <a:lumMod val="50000"/>
              </a:schemeClr>
            </a:solidFill>
          </a:ln>
        </p:spPr>
      </p:pic>
    </p:spTree>
    <p:extLst>
      <p:ext uri="{BB962C8B-B14F-4D97-AF65-F5344CB8AC3E}">
        <p14:creationId xmlns:p14="http://schemas.microsoft.com/office/powerpoint/2010/main" val="33451317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a:extLst>
            <a:ext uri="{FF2B5EF4-FFF2-40B4-BE49-F238E27FC236}">
              <a16:creationId xmlns:a16="http://schemas.microsoft.com/office/drawing/2014/main" id="{7D79BC3E-BF8A-50DA-FAEB-2267410E3CF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A89CC2F-4E52-29B1-9EA4-26B15E98B383}"/>
              </a:ext>
            </a:extLst>
          </p:cNvPr>
          <p:cNvSpPr/>
          <p:nvPr/>
        </p:nvSpPr>
        <p:spPr>
          <a:xfrm>
            <a:off x="640080" y="120433"/>
            <a:ext cx="7772400" cy="423673"/>
          </a:xfrm>
          <a:prstGeom prst="rect">
            <a:avLst/>
          </a:prstGeom>
          <a:noFill/>
          <a:ln/>
        </p:spPr>
        <p:txBody>
          <a:bodyPr wrap="square" lIns="0" tIns="0" rIns="0" bIns="0" rtlCol="0" anchor="ctr"/>
          <a:lstStyle/>
          <a:p>
            <a:pPr algn="ctr"/>
            <a:r>
              <a:rPr lang="en-US" sz="3200" b="1" dirty="0" err="1">
                <a:solidFill>
                  <a:schemeClr val="accent1">
                    <a:lumMod val="75000"/>
                  </a:schemeClr>
                </a:solidFill>
                <a:highlight>
                  <a:srgbClr val="C0C0C0"/>
                </a:highlight>
                <a:latin typeface="Algerian" panose="04020705040A02060702" pitchFamily="82" charset="0"/>
              </a:rPr>
              <a:t>Mysql</a:t>
            </a:r>
            <a:r>
              <a:rPr lang="en-US" sz="3200" b="1" dirty="0">
                <a:solidFill>
                  <a:schemeClr val="accent1">
                    <a:lumMod val="75000"/>
                  </a:schemeClr>
                </a:solidFill>
                <a:highlight>
                  <a:srgbClr val="C0C0C0"/>
                </a:highlight>
                <a:latin typeface="Algerian" panose="04020705040A02060702" pitchFamily="82" charset="0"/>
              </a:rPr>
              <a:t> </a:t>
            </a:r>
            <a:r>
              <a:rPr lang="en-US" sz="3200" b="1" dirty="0" err="1">
                <a:solidFill>
                  <a:schemeClr val="accent1">
                    <a:lumMod val="75000"/>
                  </a:schemeClr>
                </a:solidFill>
                <a:highlight>
                  <a:srgbClr val="C0C0C0"/>
                </a:highlight>
                <a:latin typeface="Algerian" panose="04020705040A02060702" pitchFamily="82" charset="0"/>
              </a:rPr>
              <a:t>WOrk</a:t>
            </a:r>
            <a:endParaRPr lang="en-US" sz="3200" b="1" dirty="0">
              <a:solidFill>
                <a:schemeClr val="accent1">
                  <a:lumMod val="75000"/>
                </a:schemeClr>
              </a:solidFill>
              <a:highlight>
                <a:srgbClr val="C0C0C0"/>
              </a:highlight>
              <a:latin typeface="Algerian" panose="04020705040A02060702" pitchFamily="82" charset="0"/>
            </a:endParaRPr>
          </a:p>
        </p:txBody>
      </p:sp>
      <p:pic>
        <p:nvPicPr>
          <p:cNvPr id="4" name="Picture 3">
            <a:extLst>
              <a:ext uri="{FF2B5EF4-FFF2-40B4-BE49-F238E27FC236}">
                <a16:creationId xmlns:a16="http://schemas.microsoft.com/office/drawing/2014/main" id="{F3E383A6-1F37-4907-500D-9194A54635D4}"/>
              </a:ext>
            </a:extLst>
          </p:cNvPr>
          <p:cNvPicPr>
            <a:picLocks noChangeAspect="1"/>
          </p:cNvPicPr>
          <p:nvPr/>
        </p:nvPicPr>
        <p:blipFill>
          <a:blip r:embed="rId3"/>
          <a:stretch>
            <a:fillRect/>
          </a:stretch>
        </p:blipFill>
        <p:spPr>
          <a:xfrm>
            <a:off x="2755292" y="120432"/>
            <a:ext cx="452161" cy="476573"/>
          </a:xfrm>
          <a:prstGeom prst="rect">
            <a:avLst/>
          </a:prstGeom>
        </p:spPr>
      </p:pic>
      <p:pic>
        <p:nvPicPr>
          <p:cNvPr id="5" name="Picture 4">
            <a:extLst>
              <a:ext uri="{FF2B5EF4-FFF2-40B4-BE49-F238E27FC236}">
                <a16:creationId xmlns:a16="http://schemas.microsoft.com/office/drawing/2014/main" id="{228C15D9-96EC-DD3C-059F-7F2FDE556789}"/>
              </a:ext>
            </a:extLst>
          </p:cNvPr>
          <p:cNvPicPr>
            <a:picLocks noChangeAspect="1"/>
          </p:cNvPicPr>
          <p:nvPr/>
        </p:nvPicPr>
        <p:blipFill>
          <a:blip r:embed="rId3"/>
          <a:stretch>
            <a:fillRect/>
          </a:stretch>
        </p:blipFill>
        <p:spPr>
          <a:xfrm>
            <a:off x="5873068" y="120433"/>
            <a:ext cx="452161" cy="476572"/>
          </a:xfrm>
          <a:prstGeom prst="rect">
            <a:avLst/>
          </a:prstGeom>
        </p:spPr>
      </p:pic>
      <p:sp>
        <p:nvSpPr>
          <p:cNvPr id="13" name="TextBox 12">
            <a:extLst>
              <a:ext uri="{FF2B5EF4-FFF2-40B4-BE49-F238E27FC236}">
                <a16:creationId xmlns:a16="http://schemas.microsoft.com/office/drawing/2014/main" id="{4EE39C88-41C8-8EE8-7C98-A30C505D1659}"/>
              </a:ext>
            </a:extLst>
          </p:cNvPr>
          <p:cNvSpPr txBox="1"/>
          <p:nvPr/>
        </p:nvSpPr>
        <p:spPr>
          <a:xfrm>
            <a:off x="104078" y="735980"/>
            <a:ext cx="8950712" cy="4287087"/>
          </a:xfrm>
          <a:prstGeom prst="rect">
            <a:avLst/>
          </a:prstGeom>
          <a:noFill/>
          <a:ln>
            <a:solidFill>
              <a:schemeClr val="accent1">
                <a:lumMod val="50000"/>
              </a:schemeClr>
            </a:solidFill>
          </a:ln>
        </p:spPr>
        <p:txBody>
          <a:bodyPr wrap="square" rtlCol="0">
            <a:spAutoFit/>
          </a:bodyPr>
          <a:lstStyle/>
          <a:p>
            <a:endParaRPr lang="en-US" dirty="0"/>
          </a:p>
        </p:txBody>
      </p:sp>
      <p:pic>
        <p:nvPicPr>
          <p:cNvPr id="10" name="Picture 9">
            <a:extLst>
              <a:ext uri="{FF2B5EF4-FFF2-40B4-BE49-F238E27FC236}">
                <a16:creationId xmlns:a16="http://schemas.microsoft.com/office/drawing/2014/main" id="{F099AABD-5FEF-D633-0FEB-81D9972EE680}"/>
              </a:ext>
            </a:extLst>
          </p:cNvPr>
          <p:cNvPicPr>
            <a:picLocks noChangeAspect="1"/>
          </p:cNvPicPr>
          <p:nvPr/>
        </p:nvPicPr>
        <p:blipFill>
          <a:blip r:embed="rId4"/>
          <a:stretch>
            <a:fillRect/>
          </a:stretch>
        </p:blipFill>
        <p:spPr>
          <a:xfrm>
            <a:off x="2114053" y="2958789"/>
            <a:ext cx="4930761" cy="2064277"/>
          </a:xfrm>
          <a:prstGeom prst="rect">
            <a:avLst/>
          </a:prstGeom>
          <a:ln>
            <a:solidFill>
              <a:schemeClr val="accent1">
                <a:lumMod val="50000"/>
              </a:schemeClr>
            </a:solidFill>
          </a:ln>
        </p:spPr>
      </p:pic>
      <p:pic>
        <p:nvPicPr>
          <p:cNvPr id="14" name="Picture 13">
            <a:extLst>
              <a:ext uri="{FF2B5EF4-FFF2-40B4-BE49-F238E27FC236}">
                <a16:creationId xmlns:a16="http://schemas.microsoft.com/office/drawing/2014/main" id="{01AAF896-5203-7F0F-9466-7D5F8E144A2C}"/>
              </a:ext>
            </a:extLst>
          </p:cNvPr>
          <p:cNvPicPr>
            <a:picLocks noChangeAspect="1"/>
          </p:cNvPicPr>
          <p:nvPr/>
        </p:nvPicPr>
        <p:blipFill>
          <a:blip r:embed="rId5"/>
          <a:stretch>
            <a:fillRect/>
          </a:stretch>
        </p:blipFill>
        <p:spPr>
          <a:xfrm>
            <a:off x="4334107" y="735980"/>
            <a:ext cx="4720683" cy="2222810"/>
          </a:xfrm>
          <a:prstGeom prst="rect">
            <a:avLst/>
          </a:prstGeom>
          <a:ln>
            <a:solidFill>
              <a:schemeClr val="accent1">
                <a:lumMod val="50000"/>
              </a:schemeClr>
            </a:solidFill>
          </a:ln>
        </p:spPr>
      </p:pic>
      <p:pic>
        <p:nvPicPr>
          <p:cNvPr id="18" name="Picture 17">
            <a:extLst>
              <a:ext uri="{FF2B5EF4-FFF2-40B4-BE49-F238E27FC236}">
                <a16:creationId xmlns:a16="http://schemas.microsoft.com/office/drawing/2014/main" id="{2033C8DC-4913-B619-CE44-1ACC57FF817B}"/>
              </a:ext>
            </a:extLst>
          </p:cNvPr>
          <p:cNvPicPr>
            <a:picLocks noChangeAspect="1"/>
          </p:cNvPicPr>
          <p:nvPr/>
        </p:nvPicPr>
        <p:blipFill>
          <a:blip r:embed="rId6"/>
          <a:stretch>
            <a:fillRect/>
          </a:stretch>
        </p:blipFill>
        <p:spPr>
          <a:xfrm>
            <a:off x="104077" y="735981"/>
            <a:ext cx="4230030" cy="2222810"/>
          </a:xfrm>
          <a:prstGeom prst="rect">
            <a:avLst/>
          </a:prstGeom>
          <a:ln>
            <a:solidFill>
              <a:schemeClr val="accent1">
                <a:lumMod val="50000"/>
              </a:schemeClr>
            </a:solidFill>
          </a:ln>
        </p:spPr>
      </p:pic>
    </p:spTree>
    <p:extLst>
      <p:ext uri="{BB962C8B-B14F-4D97-AF65-F5344CB8AC3E}">
        <p14:creationId xmlns:p14="http://schemas.microsoft.com/office/powerpoint/2010/main" val="15679775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E1C87-5C17-D30C-6EDD-62F2FA94428E}"/>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6888EA2E-DDB2-48AD-542E-F57EE7694684}"/>
              </a:ext>
            </a:extLst>
          </p:cNvPr>
          <p:cNvPicPr>
            <a:picLocks noChangeAspect="1"/>
          </p:cNvPicPr>
          <p:nvPr/>
        </p:nvPicPr>
        <p:blipFill>
          <a:blip r:embed="rId3"/>
          <a:stretch>
            <a:fillRect/>
          </a:stretch>
        </p:blipFill>
        <p:spPr>
          <a:xfrm>
            <a:off x="7439374" y="304799"/>
            <a:ext cx="1228097" cy="1095959"/>
          </a:xfrm>
          <a:prstGeom prst="rect">
            <a:avLst/>
          </a:prstGeom>
        </p:spPr>
      </p:pic>
      <p:pic>
        <p:nvPicPr>
          <p:cNvPr id="16" name="Picture 15">
            <a:extLst>
              <a:ext uri="{FF2B5EF4-FFF2-40B4-BE49-F238E27FC236}">
                <a16:creationId xmlns:a16="http://schemas.microsoft.com/office/drawing/2014/main" id="{25E2BC24-7BE3-6418-8184-359BECE39A85}"/>
              </a:ext>
            </a:extLst>
          </p:cNvPr>
          <p:cNvPicPr>
            <a:picLocks noChangeAspect="1"/>
          </p:cNvPicPr>
          <p:nvPr/>
        </p:nvPicPr>
        <p:blipFill>
          <a:blip r:embed="rId4"/>
          <a:stretch>
            <a:fillRect/>
          </a:stretch>
        </p:blipFill>
        <p:spPr>
          <a:xfrm>
            <a:off x="183404" y="1057638"/>
            <a:ext cx="1187219" cy="1058827"/>
          </a:xfrm>
          <a:prstGeom prst="rect">
            <a:avLst/>
          </a:prstGeom>
        </p:spPr>
      </p:pic>
      <p:sp>
        <p:nvSpPr>
          <p:cNvPr id="2" name="Text 0">
            <a:extLst>
              <a:ext uri="{FF2B5EF4-FFF2-40B4-BE49-F238E27FC236}">
                <a16:creationId xmlns:a16="http://schemas.microsoft.com/office/drawing/2014/main" id="{BDEA732C-D382-3472-9F2F-5EF96E1F5F62}"/>
              </a:ext>
            </a:extLst>
          </p:cNvPr>
          <p:cNvSpPr/>
          <p:nvPr/>
        </p:nvSpPr>
        <p:spPr>
          <a:xfrm>
            <a:off x="685800" y="57243"/>
            <a:ext cx="7772400" cy="640080"/>
          </a:xfrm>
          <a:prstGeom prst="rect">
            <a:avLst/>
          </a:prstGeom>
          <a:noFill/>
          <a:ln/>
        </p:spPr>
        <p:txBody>
          <a:bodyPr wrap="square" lIns="0" tIns="0" rIns="0" bIns="0" rtlCol="0" anchor="ctr"/>
          <a:lstStyle/>
          <a:p>
            <a:pPr algn="ctr"/>
            <a:r>
              <a:rPr lang="en-US" sz="4000" b="1" dirty="0">
                <a:solidFill>
                  <a:schemeClr val="accent1">
                    <a:lumMod val="75000"/>
                  </a:schemeClr>
                </a:solidFill>
                <a:highlight>
                  <a:srgbClr val="C0C0C0"/>
                </a:highlight>
                <a:latin typeface="Algerian" panose="04020705040A02060702" pitchFamily="82" charset="0"/>
                <a:cs typeface="Times New Roman" panose="02020603050405020304" pitchFamily="18" charset="0"/>
              </a:rPr>
              <a:t>CONCLUTION</a:t>
            </a:r>
            <a:endParaRPr lang="en-US" sz="4000" dirty="0">
              <a:solidFill>
                <a:schemeClr val="accent1">
                  <a:lumMod val="75000"/>
                </a:schemeClr>
              </a:solidFill>
              <a:highlight>
                <a:srgbClr val="C0C0C0"/>
              </a:highlight>
              <a:latin typeface="Algerian" panose="04020705040A02060702" pitchFamily="82" charset="0"/>
            </a:endParaRPr>
          </a:p>
        </p:txBody>
      </p:sp>
      <p:pic>
        <p:nvPicPr>
          <p:cNvPr id="20" name="Picture 19">
            <a:extLst>
              <a:ext uri="{FF2B5EF4-FFF2-40B4-BE49-F238E27FC236}">
                <a16:creationId xmlns:a16="http://schemas.microsoft.com/office/drawing/2014/main" id="{A258315D-135C-9F21-33FE-81301B104A73}"/>
              </a:ext>
            </a:extLst>
          </p:cNvPr>
          <p:cNvPicPr>
            <a:picLocks noChangeAspect="1"/>
          </p:cNvPicPr>
          <p:nvPr/>
        </p:nvPicPr>
        <p:blipFill>
          <a:blip r:embed="rId5"/>
          <a:stretch>
            <a:fillRect/>
          </a:stretch>
        </p:blipFill>
        <p:spPr>
          <a:xfrm>
            <a:off x="1237298" y="3406116"/>
            <a:ext cx="1213384" cy="1095959"/>
          </a:xfrm>
          <a:prstGeom prst="rect">
            <a:avLst/>
          </a:prstGeom>
        </p:spPr>
      </p:pic>
      <p:pic>
        <p:nvPicPr>
          <p:cNvPr id="22" name="Picture 21">
            <a:extLst>
              <a:ext uri="{FF2B5EF4-FFF2-40B4-BE49-F238E27FC236}">
                <a16:creationId xmlns:a16="http://schemas.microsoft.com/office/drawing/2014/main" id="{BB395E90-A4D2-E115-02B0-7C4DCFFF1E17}"/>
              </a:ext>
            </a:extLst>
          </p:cNvPr>
          <p:cNvPicPr>
            <a:picLocks noChangeAspect="1"/>
          </p:cNvPicPr>
          <p:nvPr/>
        </p:nvPicPr>
        <p:blipFill>
          <a:blip r:embed="rId6"/>
          <a:stretch>
            <a:fillRect/>
          </a:stretch>
        </p:blipFill>
        <p:spPr>
          <a:xfrm>
            <a:off x="6717483" y="3626463"/>
            <a:ext cx="1189219" cy="1212237"/>
          </a:xfrm>
          <a:prstGeom prst="rect">
            <a:avLst/>
          </a:prstGeom>
        </p:spPr>
      </p:pic>
      <p:sp>
        <p:nvSpPr>
          <p:cNvPr id="3" name="Text 1">
            <a:extLst>
              <a:ext uri="{FF2B5EF4-FFF2-40B4-BE49-F238E27FC236}">
                <a16:creationId xmlns:a16="http://schemas.microsoft.com/office/drawing/2014/main" id="{8DAAD04C-FAB0-1FC4-91C2-619D2788E64E}"/>
              </a:ext>
            </a:extLst>
          </p:cNvPr>
          <p:cNvSpPr/>
          <p:nvPr/>
        </p:nvSpPr>
        <p:spPr>
          <a:xfrm>
            <a:off x="476529" y="-126381"/>
            <a:ext cx="8190942" cy="5902713"/>
          </a:xfrm>
          <a:prstGeom prst="rect">
            <a:avLst/>
          </a:prstGeom>
          <a:noFill/>
          <a:ln/>
        </p:spPr>
        <p:txBody>
          <a:bodyPr wrap="square" lIns="0" tIns="0" rIns="0" bIns="0" rtlCol="0" anchor="ctr"/>
          <a:lstStyle/>
          <a:p>
            <a:pPr marL="171450" indent="-171450">
              <a:lnSpc>
                <a:spcPct val="150000"/>
              </a:lnSpc>
              <a:buFont typeface="Arial" panose="020B0604020202020204" pitchFamily="34" charset="0"/>
              <a:buChar char="•"/>
            </a:pPr>
            <a:r>
              <a:rPr lang="en-US" sz="1400" dirty="0"/>
              <a:t>High Cloud Airlines demonstrates a strong operational presence with wide reach and consistent load factors.</a:t>
            </a:r>
          </a:p>
          <a:p>
            <a:pPr marL="171450" indent="-171450">
              <a:lnSpc>
                <a:spcPct val="150000"/>
              </a:lnSpc>
              <a:buFont typeface="Arial" panose="020B0604020202020204" pitchFamily="34" charset="0"/>
              <a:buChar char="•"/>
            </a:pPr>
            <a:r>
              <a:rPr lang="en-US" sz="1400" dirty="0"/>
              <a:t>However, area like seat utilization, flight cancellations, and dependency on select routes/carriers require attention.</a:t>
            </a:r>
          </a:p>
          <a:p>
            <a:pPr marL="171450" indent="-171450">
              <a:lnSpc>
                <a:spcPct val="150000"/>
              </a:lnSpc>
              <a:buFont typeface="Arial" panose="020B0604020202020204" pitchFamily="34" charset="0"/>
              <a:buChar char="•"/>
            </a:pPr>
            <a:r>
              <a:rPr lang="en-US" sz="1400" dirty="0"/>
              <a:t>By acting on the identified problems and implementing data-driven solutions, the airline can improve efficiency, profitability, and customer satisfaction.</a:t>
            </a:r>
          </a:p>
          <a:p>
            <a:pPr marL="171450" indent="-171450">
              <a:lnSpc>
                <a:spcPct val="150000"/>
              </a:lnSpc>
              <a:buFont typeface="Arial" panose="020B0604020202020204" pitchFamily="34" charset="0"/>
              <a:buChar char="•"/>
            </a:pPr>
            <a:r>
              <a:rPr lang="en-US" sz="1400" dirty="0">
                <a:cs typeface="Times New Roman" panose="02020603050405020304" pitchFamily="18" charset="0"/>
              </a:rPr>
              <a:t>High Cloud Airlines empowers the aviation industry with actionable insights, foresting efficiency, and strategic decision-making. The presented KPIs offer a glimpse into the vast potential for improvement and growth within the industry. By harnessing the power of data, we can drive positive changes, ensuring a bright future for High Cloud Airlines and its partners in the aviation sector.</a:t>
            </a:r>
            <a:endParaRPr lang="en-IN" sz="1400" dirty="0">
              <a:cs typeface="Times New Roman" panose="02020603050405020304" pitchFamily="18" charset="0"/>
            </a:endParaRPr>
          </a:p>
          <a:p>
            <a:pPr marL="171450" indent="-171450">
              <a:lnSpc>
                <a:spcPct val="150000"/>
              </a:lnSpc>
              <a:buFont typeface="Arial" panose="020B0604020202020204" pitchFamily="34" charset="0"/>
              <a:buChar char="•"/>
            </a:pPr>
            <a:r>
              <a:rPr lang="en-US" sz="1400" dirty="0">
                <a:cs typeface="Calibri" panose="020F0502020204030204" pitchFamily="34" charset="0"/>
              </a:rPr>
              <a:t>High Cloud Airlines aims to expand its route network while maintaining a focus on safety and reliability.</a:t>
            </a:r>
          </a:p>
          <a:p>
            <a:pPr marL="171450" indent="-171450">
              <a:lnSpc>
                <a:spcPct val="150000"/>
              </a:lnSpc>
              <a:buFont typeface="Arial" panose="020B0604020202020204" pitchFamily="34" charset="0"/>
              <a:buChar char="•"/>
            </a:pPr>
            <a:r>
              <a:rPr lang="en-US" sz="1400" dirty="0">
                <a:cs typeface="Calibri" panose="020F0502020204030204" pitchFamily="34" charset="0"/>
              </a:rPr>
              <a:t>Airline is well-positioned to navigate future industry dynamics and continue delivering value to its customers and stakeholders.</a:t>
            </a:r>
          </a:p>
          <a:p>
            <a:pPr>
              <a:lnSpc>
                <a:spcPct val="150000"/>
              </a:lnSpc>
              <a:buFont typeface="+mj-lt"/>
              <a:buAutoNum type="arabicPeriod"/>
            </a:pPr>
            <a:endParaRPr lang="en-US" sz="1400" dirty="0"/>
          </a:p>
        </p:txBody>
      </p:sp>
      <p:pic>
        <p:nvPicPr>
          <p:cNvPr id="18" name="Picture 17">
            <a:extLst>
              <a:ext uri="{FF2B5EF4-FFF2-40B4-BE49-F238E27FC236}">
                <a16:creationId xmlns:a16="http://schemas.microsoft.com/office/drawing/2014/main" id="{BEEAD254-6E8E-B73D-5EFE-FEA9F8350A55}"/>
              </a:ext>
            </a:extLst>
          </p:cNvPr>
          <p:cNvPicPr>
            <a:picLocks noChangeAspect="1"/>
          </p:cNvPicPr>
          <p:nvPr/>
        </p:nvPicPr>
        <p:blipFill>
          <a:blip r:embed="rId7"/>
          <a:stretch>
            <a:fillRect/>
          </a:stretch>
        </p:blipFill>
        <p:spPr>
          <a:xfrm>
            <a:off x="964459" y="155375"/>
            <a:ext cx="1372487" cy="670528"/>
          </a:xfrm>
          <a:prstGeom prst="rect">
            <a:avLst/>
          </a:prstGeom>
        </p:spPr>
      </p:pic>
    </p:spTree>
    <p:extLst>
      <p:ext uri="{BB962C8B-B14F-4D97-AF65-F5344CB8AC3E}">
        <p14:creationId xmlns:p14="http://schemas.microsoft.com/office/powerpoint/2010/main" val="4202670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AED6FF-6EBD-3D12-0987-33533BB7B618}"/>
            </a:ext>
          </a:extLst>
        </p:cNvPr>
        <p:cNvGrpSpPr/>
        <p:nvPr/>
      </p:nvGrpSpPr>
      <p:grpSpPr>
        <a:xfrm>
          <a:off x="0" y="0"/>
          <a:ext cx="0" cy="0"/>
          <a:chOff x="0" y="0"/>
          <a:chExt cx="0" cy="0"/>
        </a:xfrm>
      </p:grpSpPr>
      <p:grpSp>
        <p:nvGrpSpPr>
          <p:cNvPr id="58" name="Group 57">
            <a:extLst>
              <a:ext uri="{FF2B5EF4-FFF2-40B4-BE49-F238E27FC236}">
                <a16:creationId xmlns:a16="http://schemas.microsoft.com/office/drawing/2014/main" id="{A182C109-9E4C-3C96-8794-9411573CBD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5716"/>
            <a:ext cx="9144000" cy="5171240"/>
            <a:chOff x="0" y="-7622"/>
            <a:chExt cx="12192000" cy="6894986"/>
          </a:xfrm>
        </p:grpSpPr>
        <p:sp>
          <p:nvSpPr>
            <p:cNvPr id="59" name="Rectangle 58">
              <a:extLst>
                <a:ext uri="{FF2B5EF4-FFF2-40B4-BE49-F238E27FC236}">
                  <a16:creationId xmlns:a16="http://schemas.microsoft.com/office/drawing/2014/main" id="{1C864660-C52B-BC40-9AE0-D900B4B67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CFD81F2E-754B-ACB7-ECD1-E1DADAD079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9B2A2591-0296-4CF4-E75F-51D7CB8EC5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078A07A2-FD92-5AD1-01EE-9D7AEAB887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9127281" y="7060"/>
              <a:ext cx="3064320" cy="6872683"/>
            </a:xfrm>
            <a:prstGeom prst="rect">
              <a:avLst/>
            </a:prstGeom>
            <a:gradFill flip="none" rotWithShape="1">
              <a:gsLst>
                <a:gs pos="0">
                  <a:schemeClr val="accent2">
                    <a:alpha val="58000"/>
                  </a:schemeClr>
                </a:gs>
                <a:gs pos="41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pic>
        <p:nvPicPr>
          <p:cNvPr id="2" name="Picture 1">
            <a:extLst>
              <a:ext uri="{FF2B5EF4-FFF2-40B4-BE49-F238E27FC236}">
                <a16:creationId xmlns:a16="http://schemas.microsoft.com/office/drawing/2014/main" id="{82C004DF-0687-5BC5-2976-C61AC697491D}"/>
              </a:ext>
            </a:extLst>
          </p:cNvPr>
          <p:cNvPicPr>
            <a:picLocks noChangeAspect="1"/>
          </p:cNvPicPr>
          <p:nvPr/>
        </p:nvPicPr>
        <p:blipFill>
          <a:blip r:embed="rId3"/>
          <a:srcRect t="7867" r="1" b="1"/>
          <a:stretch>
            <a:fillRect/>
          </a:stretch>
        </p:blipFill>
        <p:spPr>
          <a:xfrm>
            <a:off x="81776" y="89211"/>
            <a:ext cx="8958145" cy="4973444"/>
          </a:xfrm>
          <a:prstGeom prst="rect">
            <a:avLst/>
          </a:prstGeom>
        </p:spPr>
      </p:pic>
      <p:sp>
        <p:nvSpPr>
          <p:cNvPr id="29" name="Rectangle 28">
            <a:extLst>
              <a:ext uri="{FF2B5EF4-FFF2-40B4-BE49-F238E27FC236}">
                <a16:creationId xmlns:a16="http://schemas.microsoft.com/office/drawing/2014/main" id="{9BE8A4D9-914D-A10E-2131-9EB2B98504D1}"/>
              </a:ext>
            </a:extLst>
          </p:cNvPr>
          <p:cNvSpPr/>
          <p:nvPr/>
        </p:nvSpPr>
        <p:spPr>
          <a:xfrm>
            <a:off x="5322849" y="2871299"/>
            <a:ext cx="3427141" cy="6004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55282BDF-452D-BD4C-B3BF-259AFF12DA52}"/>
              </a:ext>
            </a:extLst>
          </p:cNvPr>
          <p:cNvSpPr txBox="1"/>
          <p:nvPr/>
        </p:nvSpPr>
        <p:spPr>
          <a:xfrm>
            <a:off x="5330283" y="2869280"/>
            <a:ext cx="3300761" cy="338554"/>
          </a:xfrm>
          <a:prstGeom prst="rect">
            <a:avLst/>
          </a:prstGeom>
          <a:noFill/>
        </p:spPr>
        <p:txBody>
          <a:bodyPr wrap="square" rtlCol="0">
            <a:spAutoFit/>
          </a:bodyPr>
          <a:lstStyle/>
          <a:p>
            <a:pPr algn="ctr"/>
            <a:r>
              <a:rPr lang="en-US" sz="1600" b="1" dirty="0">
                <a:solidFill>
                  <a:schemeClr val="accent2">
                    <a:lumMod val="75000"/>
                  </a:schemeClr>
                </a:solidFill>
                <a:latin typeface="Calibri" pitchFamily="34" charset="0"/>
                <a:ea typeface="Calibri" pitchFamily="34" charset="-122"/>
                <a:cs typeface="Calibri" pitchFamily="34" charset="-120"/>
              </a:rPr>
              <a:t>High Cloud Airlines Analytics</a:t>
            </a:r>
            <a:endParaRPr lang="en-US" sz="1600" b="1" dirty="0">
              <a:solidFill>
                <a:schemeClr val="accent2">
                  <a:lumMod val="75000"/>
                </a:schemeClr>
              </a:solidFill>
            </a:endParaRPr>
          </a:p>
        </p:txBody>
      </p:sp>
      <p:pic>
        <p:nvPicPr>
          <p:cNvPr id="55" name="Picture 54">
            <a:extLst>
              <a:ext uri="{FF2B5EF4-FFF2-40B4-BE49-F238E27FC236}">
                <a16:creationId xmlns:a16="http://schemas.microsoft.com/office/drawing/2014/main" id="{B7234FBB-BA67-913C-2066-BF4253FCCE63}"/>
              </a:ext>
            </a:extLst>
          </p:cNvPr>
          <p:cNvPicPr>
            <a:picLocks noChangeAspect="1"/>
          </p:cNvPicPr>
          <p:nvPr/>
        </p:nvPicPr>
        <p:blipFill>
          <a:blip r:embed="rId4"/>
          <a:stretch>
            <a:fillRect/>
          </a:stretch>
        </p:blipFill>
        <p:spPr>
          <a:xfrm>
            <a:off x="6148079" y="3171522"/>
            <a:ext cx="1665168" cy="936657"/>
          </a:xfrm>
          <a:prstGeom prst="ellipse">
            <a:avLst/>
          </a:prstGeom>
          <a:ln>
            <a:noFill/>
          </a:ln>
          <a:effectLst>
            <a:softEdge rad="112500"/>
          </a:effectLst>
        </p:spPr>
      </p:pic>
    </p:spTree>
    <p:extLst>
      <p:ext uri="{BB962C8B-B14F-4D97-AF65-F5344CB8AC3E}">
        <p14:creationId xmlns:p14="http://schemas.microsoft.com/office/powerpoint/2010/main" val="24859998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sndAc>
          <p:stSnd>
            <p:snd r:embed="rId2" name="click.wav"/>
          </p:stSnd>
        </p:sndAc>
      </p:transition>
    </mc:Choice>
    <mc:Fallback xmlns="">
      <p:transition spd="slow">
        <p:fade/>
        <p:sndAc>
          <p:stSnd>
            <p:snd r:embed="rId5" name="click.wav"/>
          </p:stSnd>
        </p:sndAc>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478</TotalTime>
  <Words>1524</Words>
  <Application>Microsoft Office PowerPoint</Application>
  <PresentationFormat>On-screen Show (16:9)</PresentationFormat>
  <Paragraphs>237</Paragraphs>
  <Slides>26</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Algerian</vt:lpstr>
      <vt:lpstr>Arial</vt:lpstr>
      <vt:lpstr>Calibri</vt:lpstr>
      <vt:lpstr>Cambria</vt:lpstr>
      <vt:lpstr>Georgia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Rekha Balsara</dc:creator>
  <cp:lastModifiedBy>Rekha Balsara</cp:lastModifiedBy>
  <cp:revision>12</cp:revision>
  <dcterms:created xsi:type="dcterms:W3CDTF">2026-05-26T09:32:40Z</dcterms:created>
  <dcterms:modified xsi:type="dcterms:W3CDTF">2026-05-30T16:46:23Z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2026-05-30T11:32:22Z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180e4901-edf9-47a0-9756-059be2fb1cc1</vt:lpwstr>
  </property>
  <property fmtid="{D5CDD505-2E9C-101B-9397-08002B2CF9AE}" pid="7" name="MSIP_Label_defa4170-0d19-0005-0004-bc88714345d2_ActionId">
    <vt:lpwstr>5aafc2ba-bbcb-4710-b146-c7e702b5c315</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